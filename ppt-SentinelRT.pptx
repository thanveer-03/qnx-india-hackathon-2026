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57" r:id="rId4"/>
    <p:sldId id="258" r:id="rId5"/>
    <p:sldId id="265" r:id="rId6"/>
    <p:sldId id="266" r:id="rId7"/>
    <p:sldId id="267" r:id="rId8"/>
    <p:sldId id="269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B721E-12E5-41EF-B6B4-6216CFD4D2BD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CC340-F565-4D1F-ACB7-BCF3CDC15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862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CC340-F565-4D1F-ACB7-BCF3CDC1585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964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5344"/>
          </a:solidFill>
          <a:ln w="12700">
            <a:solidFill>
              <a:srgbClr val="E05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24688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1">
                <a:solidFill>
                  <a:srgbClr val="1C1F23"/>
                </a:solidFill>
                <a:latin typeface="Aptos"/>
              </a:rPr>
              <a:t>QNX Everywhere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38912"/>
            <a:ext cx="219456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E05344"/>
                </a:solidFill>
                <a:latin typeface="Aptos"/>
              </a:rPr>
              <a:t>PI-SQUARE 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2148840"/>
            <a:ext cx="649224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dirty="0">
                <a:solidFill>
                  <a:srgbClr val="E05344"/>
                </a:solidFill>
                <a:latin typeface="Aptos"/>
              </a:rPr>
              <a:t>STATE LEVEL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3246120"/>
            <a:ext cx="621792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0" dirty="0">
                <a:solidFill>
                  <a:srgbClr val="236FA4"/>
                </a:solidFill>
                <a:latin typeface="Aptos"/>
              </a:rPr>
              <a:t>Team Name</a:t>
            </a:r>
            <a:r>
              <a:rPr lang="en-IN" sz="1800" b="0" dirty="0">
                <a:solidFill>
                  <a:srgbClr val="236FA4"/>
                </a:solidFill>
                <a:latin typeface="Aptos"/>
              </a:rPr>
              <a:t> : </a:t>
            </a:r>
            <a:r>
              <a:rPr lang="en-IN" dirty="0" err="1">
                <a:solidFill>
                  <a:srgbClr val="236FA4"/>
                </a:solidFill>
                <a:latin typeface="Aptos"/>
              </a:rPr>
              <a:t>S</a:t>
            </a:r>
            <a:r>
              <a:rPr lang="en-IN" sz="1800" b="0" dirty="0" err="1">
                <a:solidFill>
                  <a:srgbClr val="236FA4"/>
                </a:solidFill>
                <a:latin typeface="Aptos"/>
              </a:rPr>
              <a:t>entineIRT</a:t>
            </a:r>
            <a:endParaRPr sz="1800" b="0" dirty="0">
              <a:solidFill>
                <a:srgbClr val="236FA4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12080" y="3703320"/>
            <a:ext cx="6400800" cy="77559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2400" b="1" dirty="0" err="1"/>
              <a:t>TinyML</a:t>
            </a:r>
            <a:r>
              <a:rPr lang="en-US" sz="2400" b="1" dirty="0"/>
              <a:t>-Based Intelligent EV Battery Fault Detection and Thermal Safety Monitoring System</a:t>
            </a:r>
            <a:endParaRPr lang="en-IN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212080" y="4675894"/>
            <a:ext cx="6309360" cy="40626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IN" sz="1200" dirty="0"/>
              <a:t>Real-Time Voltage, Current and Temperature Monitoring with On-Device </a:t>
            </a:r>
            <a:r>
              <a:rPr lang="en-IN" sz="1200" dirty="0" err="1"/>
              <a:t>TinyML</a:t>
            </a:r>
            <a:r>
              <a:rPr lang="en-IN" sz="1200" dirty="0"/>
              <a:t> for Safer Electric Vehicle Batteries</a:t>
            </a:r>
            <a:endParaRPr sz="1200" b="0" dirty="0">
              <a:solidFill>
                <a:srgbClr val="1C1F23"/>
              </a:solidFill>
              <a:latin typeface="Apto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26F23E-C98B-822C-43BB-C093552DC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68780"/>
            <a:ext cx="4382086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5344"/>
          </a:solidFill>
          <a:ln w="12700">
            <a:solidFill>
              <a:srgbClr val="E05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7724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C1F23"/>
                </a:solidFill>
                <a:latin typeface="Aptos"/>
              </a:rPr>
              <a:t>Design and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88136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500" b="1">
                <a:solidFill>
                  <a:srgbClr val="236FA4"/>
                </a:solidFill>
                <a:latin typeface="Aptos"/>
              </a:rPr>
              <a:t>Title &amp; Team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24688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236FA4"/>
                </a:solidFill>
                <a:latin typeface="Aptos"/>
              </a:rPr>
              <a:t>Project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920240"/>
            <a:ext cx="79095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56432" y="2039112"/>
            <a:ext cx="74523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US" sz="1400" dirty="0" err="1"/>
              <a:t>TinyML</a:t>
            </a:r>
            <a:r>
              <a:rPr lang="en-US" sz="1400" dirty="0"/>
              <a:t>-Based Intelligent EV Battery Fault Detection and Thermal Safety Monitoring System</a:t>
            </a:r>
            <a:endParaRPr lang="en-IN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" y="2834639"/>
            <a:ext cx="24688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dirty="0">
                <a:solidFill>
                  <a:srgbClr val="236FA4"/>
                </a:solidFill>
                <a:latin typeface="Aptos"/>
              </a:rPr>
              <a:t>Theme Selected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788920"/>
            <a:ext cx="79095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56432" y="2907791"/>
            <a:ext cx="74523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IN" sz="1400" dirty="0"/>
              <a:t>Automotive Safety</a:t>
            </a:r>
            <a:endParaRPr sz="1400" b="0" dirty="0"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24688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236FA4"/>
                </a:solidFill>
                <a:latin typeface="Aptos"/>
              </a:rPr>
              <a:t>Team Name &amp; City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3657600"/>
            <a:ext cx="79095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56432" y="3776472"/>
            <a:ext cx="74523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IN" sz="1400" dirty="0" err="1">
                <a:latin typeface="Calibri (Body)"/>
              </a:rPr>
              <a:t>SentineIRT</a:t>
            </a:r>
            <a:endParaRPr sz="1400" b="0" dirty="0">
              <a:latin typeface="Calibri (Body)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0"/>
            <a:ext cx="24688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dirty="0">
                <a:solidFill>
                  <a:srgbClr val="236FA4"/>
                </a:solidFill>
                <a:latin typeface="Aptos"/>
              </a:rPr>
              <a:t>Value Proposition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4526280"/>
            <a:ext cx="79095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56432" y="4560642"/>
            <a:ext cx="7452360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n-IN" sz="1400" dirty="0"/>
              <a:t>An intelligent vehicle safety system that detects fire, smoke, temperature and electrical faults in real time, delivering instant GSM alerts and IoT-based monitoring for faster safety responses</a:t>
            </a:r>
            <a:endParaRPr sz="1400" b="0" dirty="0">
              <a:solidFill>
                <a:srgbClr val="696F7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0E938B-530D-FAD7-C496-FC42C2549908}"/>
              </a:ext>
            </a:extLst>
          </p:cNvPr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2800" b="1">
                <a:solidFill>
                  <a:srgbClr val="162B42"/>
                </a:solidFill>
                <a:latin typeface="Aptos"/>
              </a:rPr>
              <a:t>Problem &amp; Objective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FF4DC9-A548-1949-C81F-8D59735EFAE1}"/>
              </a:ext>
            </a:extLst>
          </p:cNvPr>
          <p:cNvSpPr/>
          <p:nvPr/>
        </p:nvSpPr>
        <p:spPr>
          <a:xfrm>
            <a:off x="502920" y="1143000"/>
            <a:ext cx="11155680" cy="32004"/>
          </a:xfrm>
          <a:prstGeom prst="rect">
            <a:avLst/>
          </a:prstGeom>
          <a:solidFill>
            <a:srgbClr val="DC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4">
            <a:extLst>
              <a:ext uri="{FF2B5EF4-FFF2-40B4-BE49-F238E27FC236}">
                <a16:creationId xmlns:a16="http://schemas.microsoft.com/office/drawing/2014/main" id="{F788D237-CCE0-2907-83BF-3E49E82B536B}"/>
              </a:ext>
            </a:extLst>
          </p:cNvPr>
          <p:cNvSpPr/>
          <p:nvPr/>
        </p:nvSpPr>
        <p:spPr>
          <a:xfrm>
            <a:off x="502920" y="1444752"/>
            <a:ext cx="5394960" cy="333756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99B83D-6DCE-94E7-370E-8D6D16BFE9FB}"/>
              </a:ext>
            </a:extLst>
          </p:cNvPr>
          <p:cNvSpPr txBox="1"/>
          <p:nvPr/>
        </p:nvSpPr>
        <p:spPr>
          <a:xfrm>
            <a:off x="749808" y="1664208"/>
            <a:ext cx="4800600" cy="329184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300" b="1">
                <a:solidFill>
                  <a:srgbClr val="DC413A"/>
                </a:solidFill>
                <a:latin typeface="Aptos"/>
              </a:rPr>
              <a:t>THE PROBLEM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D35D72-5AC5-47F8-6237-0B7E3FB319F0}"/>
              </a:ext>
            </a:extLst>
          </p:cNvPr>
          <p:cNvSpPr txBox="1"/>
          <p:nvPr/>
        </p:nvSpPr>
        <p:spPr>
          <a:xfrm>
            <a:off x="804672" y="2103120"/>
            <a:ext cx="4709160" cy="457200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400" b="0">
                <a:solidFill>
                  <a:srgbClr val="212B36"/>
                </a:solidFill>
                <a:latin typeface="Aptos"/>
              </a:rPr>
              <a:t>•  Vehicle fire incidents can escalate quickly.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5DBB29-DBCD-81E7-CFC6-338FE90E20E9}"/>
              </a:ext>
            </a:extLst>
          </p:cNvPr>
          <p:cNvSpPr txBox="1"/>
          <p:nvPr/>
        </p:nvSpPr>
        <p:spPr>
          <a:xfrm>
            <a:off x="804672" y="2706624"/>
            <a:ext cx="4709160" cy="457200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400" b="0">
                <a:solidFill>
                  <a:srgbClr val="212B36"/>
                </a:solidFill>
                <a:latin typeface="Aptos"/>
              </a:rPr>
              <a:t>•  Delayed detection of smoke or abnormal heat can reduce response time.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335E17-7AE7-B9CB-7CBB-9851C0894933}"/>
              </a:ext>
            </a:extLst>
          </p:cNvPr>
          <p:cNvSpPr txBox="1"/>
          <p:nvPr/>
        </p:nvSpPr>
        <p:spPr>
          <a:xfrm>
            <a:off x="804672" y="3310128"/>
            <a:ext cx="4709160" cy="457200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400" b="0">
                <a:solidFill>
                  <a:srgbClr val="212B36"/>
                </a:solidFill>
                <a:latin typeface="Aptos"/>
              </a:rPr>
              <a:t>•  Electrical abnormalities may provide early warning signs.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58D44D-9692-FBF1-E864-A5F2ADB2E106}"/>
              </a:ext>
            </a:extLst>
          </p:cNvPr>
          <p:cNvSpPr txBox="1"/>
          <p:nvPr/>
        </p:nvSpPr>
        <p:spPr>
          <a:xfrm>
            <a:off x="804672" y="3913631"/>
            <a:ext cx="4709160" cy="457200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400" b="0">
                <a:solidFill>
                  <a:srgbClr val="212B36"/>
                </a:solidFill>
                <a:latin typeface="Aptos"/>
              </a:rPr>
              <a:t>•  Drivers and responders need clear, timely alerts.</a:t>
            </a:r>
          </a:p>
        </p:txBody>
      </p:sp>
      <p:sp>
        <p:nvSpPr>
          <p:cNvPr id="30" name="Rounded Rectangle 10">
            <a:extLst>
              <a:ext uri="{FF2B5EF4-FFF2-40B4-BE49-F238E27FC236}">
                <a16:creationId xmlns:a16="http://schemas.microsoft.com/office/drawing/2014/main" id="{52BCF4E9-F472-F35E-8205-4A82E7EDDAC0}"/>
              </a:ext>
            </a:extLst>
          </p:cNvPr>
          <p:cNvSpPr/>
          <p:nvPr/>
        </p:nvSpPr>
        <p:spPr>
          <a:xfrm>
            <a:off x="6172200" y="1444752"/>
            <a:ext cx="5486400" cy="333756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21A39E-B439-9033-C2E4-10FB9D4E23F7}"/>
              </a:ext>
            </a:extLst>
          </p:cNvPr>
          <p:cNvSpPr txBox="1"/>
          <p:nvPr/>
        </p:nvSpPr>
        <p:spPr>
          <a:xfrm>
            <a:off x="6419088" y="1664208"/>
            <a:ext cx="4937760" cy="329184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300" b="1">
                <a:solidFill>
                  <a:srgbClr val="2D7EBE"/>
                </a:solidFill>
                <a:latin typeface="Aptos"/>
              </a:rPr>
              <a:t>OUR OBJECTIVE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CD33A9-CAA1-499E-F563-5D9153FB4480}"/>
              </a:ext>
            </a:extLst>
          </p:cNvPr>
          <p:cNvSpPr txBox="1"/>
          <p:nvPr/>
        </p:nvSpPr>
        <p:spPr>
          <a:xfrm>
            <a:off x="6455664" y="2029968"/>
            <a:ext cx="4800600" cy="402336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200" b="0">
                <a:solidFill>
                  <a:srgbClr val="212B36"/>
                </a:solidFill>
                <a:latin typeface="Aptos"/>
              </a:rPr>
              <a:t>•  Monitor temperature, smoke, flame, voltage and current.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AE36AB-855B-D5A4-CACC-9384CF5BEE9E}"/>
              </a:ext>
            </a:extLst>
          </p:cNvPr>
          <p:cNvSpPr txBox="1"/>
          <p:nvPr/>
        </p:nvSpPr>
        <p:spPr>
          <a:xfrm>
            <a:off x="6455664" y="2532888"/>
            <a:ext cx="4800600" cy="402336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200" b="0">
                <a:solidFill>
                  <a:srgbClr val="212B36"/>
                </a:solidFill>
                <a:latin typeface="Aptos"/>
              </a:rPr>
              <a:t>•  Detect abnormal conditions using the ESP32-based prototype.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41F47C-77AF-3637-14DE-BAAEF56D171C}"/>
              </a:ext>
            </a:extLst>
          </p:cNvPr>
          <p:cNvSpPr txBox="1"/>
          <p:nvPr/>
        </p:nvSpPr>
        <p:spPr>
          <a:xfrm>
            <a:off x="6455664" y="3035808"/>
            <a:ext cx="4800600" cy="402336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200" b="0">
                <a:solidFill>
                  <a:srgbClr val="212B36"/>
                </a:solidFill>
                <a:latin typeface="Aptos"/>
              </a:rPr>
              <a:t>•  Send GSM SMS alerts and show faults on the LCD.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E5F6E2-BEF5-7003-0486-6960B12D5DC3}"/>
              </a:ext>
            </a:extLst>
          </p:cNvPr>
          <p:cNvSpPr txBox="1"/>
          <p:nvPr/>
        </p:nvSpPr>
        <p:spPr>
          <a:xfrm>
            <a:off x="6455664" y="3538728"/>
            <a:ext cx="4800600" cy="402336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200" b="0">
                <a:solidFill>
                  <a:srgbClr val="212B36"/>
                </a:solidFill>
                <a:latin typeface="Aptos"/>
              </a:rPr>
              <a:t>•  Activate the cooling fan when temperature is high.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D0FA0C-EC59-C5E0-5286-6780E93BFE7E}"/>
              </a:ext>
            </a:extLst>
          </p:cNvPr>
          <p:cNvSpPr txBox="1"/>
          <p:nvPr/>
        </p:nvSpPr>
        <p:spPr>
          <a:xfrm>
            <a:off x="6455664" y="4041648"/>
            <a:ext cx="4800600" cy="402336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200" b="0">
                <a:solidFill>
                  <a:srgbClr val="212B36"/>
                </a:solidFill>
                <a:latin typeface="Aptos"/>
              </a:rPr>
              <a:t>•  Plan a QNX real-time safety layer for future integration.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16CEDE-D8DC-AEE3-B0BF-971BA64138B7}"/>
              </a:ext>
            </a:extLst>
          </p:cNvPr>
          <p:cNvSpPr txBox="1"/>
          <p:nvPr/>
        </p:nvSpPr>
        <p:spPr>
          <a:xfrm>
            <a:off x="566928" y="5010912"/>
            <a:ext cx="1828800" cy="256032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000" b="1">
                <a:solidFill>
                  <a:srgbClr val="536270"/>
                </a:solidFill>
                <a:latin typeface="Aptos"/>
              </a:rPr>
              <a:t>SAFETY FLOW</a:t>
            </a:r>
          </a:p>
        </p:txBody>
      </p:sp>
      <p:sp>
        <p:nvSpPr>
          <p:cNvPr id="38" name="Rounded Rectangle 18">
            <a:extLst>
              <a:ext uri="{FF2B5EF4-FFF2-40B4-BE49-F238E27FC236}">
                <a16:creationId xmlns:a16="http://schemas.microsoft.com/office/drawing/2014/main" id="{1192B482-3FA9-988F-C222-F5CD7479A400}"/>
              </a:ext>
            </a:extLst>
          </p:cNvPr>
          <p:cNvSpPr/>
          <p:nvPr/>
        </p:nvSpPr>
        <p:spPr>
          <a:xfrm>
            <a:off x="566928" y="5394960"/>
            <a:ext cx="187451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7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235A08-2A8A-B216-C446-FC4A12FCC531}"/>
              </a:ext>
            </a:extLst>
          </p:cNvPr>
          <p:cNvSpPr txBox="1"/>
          <p:nvPr/>
        </p:nvSpPr>
        <p:spPr>
          <a:xfrm>
            <a:off x="621792" y="5486400"/>
            <a:ext cx="1764792" cy="219456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 algn="ctr"/>
            <a:r>
              <a:rPr sz="1100" b="1">
                <a:solidFill>
                  <a:srgbClr val="2D7EBE"/>
                </a:solidFill>
                <a:latin typeface="Aptos"/>
              </a:rPr>
              <a:t>SENSE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CFCAF5-C566-D042-596D-B2AF6C7CF8DD}"/>
              </a:ext>
            </a:extLst>
          </p:cNvPr>
          <p:cNvSpPr txBox="1"/>
          <p:nvPr/>
        </p:nvSpPr>
        <p:spPr>
          <a:xfrm>
            <a:off x="612648" y="5769864"/>
            <a:ext cx="1783080" cy="210312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 algn="ctr"/>
            <a:r>
              <a:rPr sz="850" b="0">
                <a:solidFill>
                  <a:srgbClr val="536270"/>
                </a:solidFill>
                <a:latin typeface="Aptos"/>
              </a:rPr>
              <a:t>Smoke • Flame • Temp</a:t>
            </a:r>
          </a:p>
        </p:txBody>
      </p:sp>
      <p:sp>
        <p:nvSpPr>
          <p:cNvPr id="41" name="Rounded Rectangle 21">
            <a:extLst>
              <a:ext uri="{FF2B5EF4-FFF2-40B4-BE49-F238E27FC236}">
                <a16:creationId xmlns:a16="http://schemas.microsoft.com/office/drawing/2014/main" id="{9097255F-F75E-3B58-5938-D1517C93107B}"/>
              </a:ext>
            </a:extLst>
          </p:cNvPr>
          <p:cNvSpPr/>
          <p:nvPr/>
        </p:nvSpPr>
        <p:spPr>
          <a:xfrm>
            <a:off x="2862072" y="5394960"/>
            <a:ext cx="187451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037D49-AE19-F1C3-4890-5E8DBF20A62A}"/>
              </a:ext>
            </a:extLst>
          </p:cNvPr>
          <p:cNvSpPr txBox="1"/>
          <p:nvPr/>
        </p:nvSpPr>
        <p:spPr>
          <a:xfrm>
            <a:off x="2916936" y="5486400"/>
            <a:ext cx="1764792" cy="219456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 algn="ctr"/>
            <a:r>
              <a:rPr sz="1100" b="1">
                <a:solidFill>
                  <a:srgbClr val="EF8B34"/>
                </a:solidFill>
                <a:latin typeface="Aptos"/>
              </a:rPr>
              <a:t>DETECT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5347FB-7C4C-8EE4-C2BF-29E3D837CA0C}"/>
              </a:ext>
            </a:extLst>
          </p:cNvPr>
          <p:cNvSpPr txBox="1"/>
          <p:nvPr/>
        </p:nvSpPr>
        <p:spPr>
          <a:xfrm>
            <a:off x="2907791" y="5769864"/>
            <a:ext cx="1783080" cy="210312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 algn="ctr"/>
            <a:r>
              <a:rPr sz="850" b="0">
                <a:solidFill>
                  <a:srgbClr val="536270"/>
                </a:solidFill>
                <a:latin typeface="Aptos"/>
              </a:rPr>
              <a:t>Abnormal condition</a:t>
            </a:r>
          </a:p>
        </p:txBody>
      </p:sp>
      <p:sp>
        <p:nvSpPr>
          <p:cNvPr id="44" name="Rounded Rectangle 24">
            <a:extLst>
              <a:ext uri="{FF2B5EF4-FFF2-40B4-BE49-F238E27FC236}">
                <a16:creationId xmlns:a16="http://schemas.microsoft.com/office/drawing/2014/main" id="{2211661C-3238-2B23-C03D-89C86E32DF6E}"/>
              </a:ext>
            </a:extLst>
          </p:cNvPr>
          <p:cNvSpPr/>
          <p:nvPr/>
        </p:nvSpPr>
        <p:spPr>
          <a:xfrm>
            <a:off x="5157216" y="5394960"/>
            <a:ext cx="187451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C38E78-2CF6-E830-3653-E0CE4AEDB027}"/>
              </a:ext>
            </a:extLst>
          </p:cNvPr>
          <p:cNvSpPr txBox="1"/>
          <p:nvPr/>
        </p:nvSpPr>
        <p:spPr>
          <a:xfrm>
            <a:off x="5212079" y="5486400"/>
            <a:ext cx="1764792" cy="219456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 algn="ctr"/>
            <a:r>
              <a:rPr sz="1100" b="1">
                <a:solidFill>
                  <a:srgbClr val="DC413A"/>
                </a:solidFill>
                <a:latin typeface="Aptos"/>
              </a:rPr>
              <a:t>ALERT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B08B75-5B11-B5D2-053F-825CE49C8C45}"/>
              </a:ext>
            </a:extLst>
          </p:cNvPr>
          <p:cNvSpPr txBox="1"/>
          <p:nvPr/>
        </p:nvSpPr>
        <p:spPr>
          <a:xfrm>
            <a:off x="5202936" y="5769864"/>
            <a:ext cx="1783080" cy="210312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 algn="ctr"/>
            <a:r>
              <a:rPr sz="850" b="0">
                <a:solidFill>
                  <a:srgbClr val="536270"/>
                </a:solidFill>
                <a:latin typeface="Aptos"/>
              </a:rPr>
              <a:t>SMS + LCD</a:t>
            </a:r>
          </a:p>
        </p:txBody>
      </p:sp>
      <p:sp>
        <p:nvSpPr>
          <p:cNvPr id="47" name="Rounded Rectangle 27">
            <a:extLst>
              <a:ext uri="{FF2B5EF4-FFF2-40B4-BE49-F238E27FC236}">
                <a16:creationId xmlns:a16="http://schemas.microsoft.com/office/drawing/2014/main" id="{12922CAB-891B-CD15-4252-D10F86FCEFDE}"/>
              </a:ext>
            </a:extLst>
          </p:cNvPr>
          <p:cNvSpPr/>
          <p:nvPr/>
        </p:nvSpPr>
        <p:spPr>
          <a:xfrm>
            <a:off x="7452360" y="5394960"/>
            <a:ext cx="187451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95AEE7-019A-88F8-0BEE-894975136652}"/>
              </a:ext>
            </a:extLst>
          </p:cNvPr>
          <p:cNvSpPr txBox="1"/>
          <p:nvPr/>
        </p:nvSpPr>
        <p:spPr>
          <a:xfrm>
            <a:off x="7507224" y="5486400"/>
            <a:ext cx="1764792" cy="219456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 algn="ctr"/>
            <a:r>
              <a:rPr sz="1100" b="1">
                <a:solidFill>
                  <a:srgbClr val="2A9169"/>
                </a:solidFill>
                <a:latin typeface="Aptos"/>
              </a:rPr>
              <a:t>RESPOND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44032B-8551-F2C6-C749-7E375D319A4B}"/>
              </a:ext>
            </a:extLst>
          </p:cNvPr>
          <p:cNvSpPr txBox="1"/>
          <p:nvPr/>
        </p:nvSpPr>
        <p:spPr>
          <a:xfrm>
            <a:off x="7498080" y="5769864"/>
            <a:ext cx="1783080" cy="210312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 algn="ctr"/>
            <a:r>
              <a:rPr sz="850" b="0">
                <a:solidFill>
                  <a:srgbClr val="536270"/>
                </a:solidFill>
                <a:latin typeface="Aptos"/>
              </a:rPr>
              <a:t>Cooling fan</a:t>
            </a:r>
          </a:p>
        </p:txBody>
      </p:sp>
      <p:sp>
        <p:nvSpPr>
          <p:cNvPr id="50" name="Rounded Rectangle 30">
            <a:extLst>
              <a:ext uri="{FF2B5EF4-FFF2-40B4-BE49-F238E27FC236}">
                <a16:creationId xmlns:a16="http://schemas.microsoft.com/office/drawing/2014/main" id="{D05D70E0-86D1-0E2B-4931-ED8214460FB1}"/>
              </a:ext>
            </a:extLst>
          </p:cNvPr>
          <p:cNvSpPr/>
          <p:nvPr/>
        </p:nvSpPr>
        <p:spPr>
          <a:xfrm>
            <a:off x="9747504" y="5394960"/>
            <a:ext cx="187451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2359CC-40A9-172F-D4F5-0FA95496DD48}"/>
              </a:ext>
            </a:extLst>
          </p:cNvPr>
          <p:cNvSpPr txBox="1"/>
          <p:nvPr/>
        </p:nvSpPr>
        <p:spPr>
          <a:xfrm>
            <a:off x="9802368" y="5486400"/>
            <a:ext cx="1764792" cy="219456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 algn="ctr"/>
            <a:r>
              <a:rPr sz="1100" b="1">
                <a:solidFill>
                  <a:srgbClr val="162B42"/>
                </a:solidFill>
                <a:latin typeface="Aptos"/>
              </a:rPr>
              <a:t>EXTEND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D29491E-6D23-45ED-D8EE-9EF4BAE16600}"/>
              </a:ext>
            </a:extLst>
          </p:cNvPr>
          <p:cNvSpPr txBox="1"/>
          <p:nvPr/>
        </p:nvSpPr>
        <p:spPr>
          <a:xfrm>
            <a:off x="9793224" y="5769864"/>
            <a:ext cx="1783080" cy="210312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pPr algn="ctr"/>
            <a:r>
              <a:rPr sz="850" b="0">
                <a:solidFill>
                  <a:srgbClr val="536270"/>
                </a:solidFill>
                <a:latin typeface="Aptos"/>
              </a:rPr>
              <a:t>Planned QNX layer</a:t>
            </a:r>
          </a:p>
        </p:txBody>
      </p:sp>
      <p:cxnSp>
        <p:nvCxnSpPr>
          <p:cNvPr id="53" name="Connector 33">
            <a:extLst>
              <a:ext uri="{FF2B5EF4-FFF2-40B4-BE49-F238E27FC236}">
                <a16:creationId xmlns:a16="http://schemas.microsoft.com/office/drawing/2014/main" id="{8025CB45-80D4-BC0E-D762-664283B51729}"/>
              </a:ext>
            </a:extLst>
          </p:cNvPr>
          <p:cNvCxnSpPr/>
          <p:nvPr/>
        </p:nvCxnSpPr>
        <p:spPr>
          <a:xfrm>
            <a:off x="2532888" y="5788152"/>
            <a:ext cx="274320" cy="0"/>
          </a:xfrm>
          <a:prstGeom prst="line">
            <a:avLst/>
          </a:prstGeom>
          <a:ln w="17780">
            <a:solidFill>
              <a:srgbClr val="53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34">
            <a:extLst>
              <a:ext uri="{FF2B5EF4-FFF2-40B4-BE49-F238E27FC236}">
                <a16:creationId xmlns:a16="http://schemas.microsoft.com/office/drawing/2014/main" id="{E4BE4436-8765-3AF8-50B4-CBF54CC8290C}"/>
              </a:ext>
            </a:extLst>
          </p:cNvPr>
          <p:cNvCxnSpPr/>
          <p:nvPr/>
        </p:nvCxnSpPr>
        <p:spPr>
          <a:xfrm>
            <a:off x="4828032" y="5788152"/>
            <a:ext cx="274320" cy="0"/>
          </a:xfrm>
          <a:prstGeom prst="line">
            <a:avLst/>
          </a:prstGeom>
          <a:ln w="17780">
            <a:solidFill>
              <a:srgbClr val="53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35">
            <a:extLst>
              <a:ext uri="{FF2B5EF4-FFF2-40B4-BE49-F238E27FC236}">
                <a16:creationId xmlns:a16="http://schemas.microsoft.com/office/drawing/2014/main" id="{23272BD8-7838-E1D1-9F48-F2778A748BEF}"/>
              </a:ext>
            </a:extLst>
          </p:cNvPr>
          <p:cNvCxnSpPr/>
          <p:nvPr/>
        </p:nvCxnSpPr>
        <p:spPr>
          <a:xfrm>
            <a:off x="7123176" y="5788152"/>
            <a:ext cx="274320" cy="0"/>
          </a:xfrm>
          <a:prstGeom prst="line">
            <a:avLst/>
          </a:prstGeom>
          <a:ln w="17780">
            <a:solidFill>
              <a:srgbClr val="53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36">
            <a:extLst>
              <a:ext uri="{FF2B5EF4-FFF2-40B4-BE49-F238E27FC236}">
                <a16:creationId xmlns:a16="http://schemas.microsoft.com/office/drawing/2014/main" id="{86A67860-67EF-BDDD-FF9F-B4235BC0F569}"/>
              </a:ext>
            </a:extLst>
          </p:cNvPr>
          <p:cNvCxnSpPr/>
          <p:nvPr/>
        </p:nvCxnSpPr>
        <p:spPr>
          <a:xfrm>
            <a:off x="9418320" y="5788152"/>
            <a:ext cx="274320" cy="0"/>
          </a:xfrm>
          <a:prstGeom prst="line">
            <a:avLst/>
          </a:prstGeom>
          <a:ln w="17780">
            <a:solidFill>
              <a:srgbClr val="536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76ADBC6-099F-5D8E-EC61-A8CC088B8DC5}"/>
              </a:ext>
            </a:extLst>
          </p:cNvPr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2800" b="1">
                <a:solidFill>
                  <a:srgbClr val="162B42"/>
                </a:solidFill>
                <a:latin typeface="Aptos"/>
              </a:rPr>
              <a:t>Literature Survey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390E24-39D2-081C-9D60-41428C5B03F8}"/>
              </a:ext>
            </a:extLst>
          </p:cNvPr>
          <p:cNvSpPr/>
          <p:nvPr/>
        </p:nvSpPr>
        <p:spPr>
          <a:xfrm>
            <a:off x="502920" y="1143000"/>
            <a:ext cx="11155680" cy="32004"/>
          </a:xfrm>
          <a:prstGeom prst="rect">
            <a:avLst/>
          </a:prstGeom>
          <a:solidFill>
            <a:srgbClr val="DC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989D60F-50DF-D48A-97A4-6F29CA3C9989}"/>
              </a:ext>
            </a:extLst>
          </p:cNvPr>
          <p:cNvSpPr/>
          <p:nvPr/>
        </p:nvSpPr>
        <p:spPr>
          <a:xfrm>
            <a:off x="502920" y="1481328"/>
            <a:ext cx="2743200" cy="342900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01B324-3FEB-87A0-237F-B75746B7162C}"/>
              </a:ext>
            </a:extLst>
          </p:cNvPr>
          <p:cNvSpPr txBox="1"/>
          <p:nvPr/>
        </p:nvSpPr>
        <p:spPr>
          <a:xfrm>
            <a:off x="649224" y="1645920"/>
            <a:ext cx="2450592" cy="530352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300" b="1">
                <a:solidFill>
                  <a:srgbClr val="2D7EBE"/>
                </a:solidFill>
                <a:latin typeface="Aptos"/>
              </a:rPr>
              <a:t>1  Vehicle fire &amp; smoke sensing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95190F-3E7E-77F6-6FDD-D5B4E44442DE}"/>
              </a:ext>
            </a:extLst>
          </p:cNvPr>
          <p:cNvSpPr txBox="1"/>
          <p:nvPr/>
        </p:nvSpPr>
        <p:spPr>
          <a:xfrm>
            <a:off x="658368" y="2441448"/>
            <a:ext cx="2432304" cy="822960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100" b="0">
                <a:solidFill>
                  <a:srgbClr val="212B36"/>
                </a:solidFill>
                <a:latin typeface="Aptos"/>
              </a:rPr>
              <a:t>•  Smoke/flame sensors support early event detection.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D41C9A-A04D-78FA-BD48-A3AC56EDEC81}"/>
              </a:ext>
            </a:extLst>
          </p:cNvPr>
          <p:cNvSpPr txBox="1"/>
          <p:nvPr/>
        </p:nvSpPr>
        <p:spPr>
          <a:xfrm>
            <a:off x="658368" y="3465576"/>
            <a:ext cx="2432304" cy="822960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100" b="0">
                <a:solidFill>
                  <a:srgbClr val="212B36"/>
                </a:solidFill>
                <a:latin typeface="Aptos"/>
              </a:rPr>
              <a:t>•  Temperature sensing helps identify thermal escalation.</a:t>
            </a:r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1A3EC43B-A34C-F39C-DAE7-45EA2764D3AB}"/>
              </a:ext>
            </a:extLst>
          </p:cNvPr>
          <p:cNvSpPr/>
          <p:nvPr/>
        </p:nvSpPr>
        <p:spPr>
          <a:xfrm>
            <a:off x="3401568" y="1481328"/>
            <a:ext cx="2743200" cy="342900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7C428E-3254-BCB8-235E-449DEE12A505}"/>
              </a:ext>
            </a:extLst>
          </p:cNvPr>
          <p:cNvSpPr txBox="1"/>
          <p:nvPr/>
        </p:nvSpPr>
        <p:spPr>
          <a:xfrm>
            <a:off x="3547872" y="1645920"/>
            <a:ext cx="2450592" cy="530352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300" b="1">
                <a:solidFill>
                  <a:srgbClr val="EF8B34"/>
                </a:solidFill>
                <a:latin typeface="Aptos"/>
              </a:rPr>
              <a:t>2  Multi-sensor monitoring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0EF2B0-C2BA-A146-8FF6-EB9D88DBEEEF}"/>
              </a:ext>
            </a:extLst>
          </p:cNvPr>
          <p:cNvSpPr txBox="1"/>
          <p:nvPr/>
        </p:nvSpPr>
        <p:spPr>
          <a:xfrm>
            <a:off x="3557016" y="2441448"/>
            <a:ext cx="2432304" cy="822960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100" b="0">
                <a:solidFill>
                  <a:srgbClr val="212B36"/>
                </a:solidFill>
                <a:latin typeface="Aptos"/>
              </a:rPr>
              <a:t>•  Voltage and current add electrical context.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7B2A7F-0F19-F2FA-0092-6211DE008F2D}"/>
              </a:ext>
            </a:extLst>
          </p:cNvPr>
          <p:cNvSpPr txBox="1"/>
          <p:nvPr/>
        </p:nvSpPr>
        <p:spPr>
          <a:xfrm>
            <a:off x="3557016" y="3465576"/>
            <a:ext cx="2432304" cy="822960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100" b="0">
                <a:solidFill>
                  <a:srgbClr val="212B36"/>
                </a:solidFill>
                <a:latin typeface="Aptos"/>
              </a:rPr>
              <a:t>•  Combining sensor signals can give a broader safety picture.</a:t>
            </a:r>
          </a:p>
        </p:txBody>
      </p:sp>
      <p:sp>
        <p:nvSpPr>
          <p:cNvPr id="28" name="Rounded Rectangle 12">
            <a:extLst>
              <a:ext uri="{FF2B5EF4-FFF2-40B4-BE49-F238E27FC236}">
                <a16:creationId xmlns:a16="http://schemas.microsoft.com/office/drawing/2014/main" id="{66BED139-C65F-5948-F55A-E6A16253DB77}"/>
              </a:ext>
            </a:extLst>
          </p:cNvPr>
          <p:cNvSpPr/>
          <p:nvPr/>
        </p:nvSpPr>
        <p:spPr>
          <a:xfrm>
            <a:off x="6300216" y="1481328"/>
            <a:ext cx="2743200" cy="342900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23BAD6-E3D3-DAE3-1AEB-63A9E4378C5B}"/>
              </a:ext>
            </a:extLst>
          </p:cNvPr>
          <p:cNvSpPr txBox="1"/>
          <p:nvPr/>
        </p:nvSpPr>
        <p:spPr>
          <a:xfrm>
            <a:off x="6446520" y="1645920"/>
            <a:ext cx="2450592" cy="530352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300" b="1">
                <a:solidFill>
                  <a:srgbClr val="2A9169"/>
                </a:solidFill>
                <a:latin typeface="Aptos"/>
              </a:rPr>
              <a:t>3  Edge intelligence / TinyML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65768C-6D0E-D468-B973-85FC6B2936C0}"/>
              </a:ext>
            </a:extLst>
          </p:cNvPr>
          <p:cNvSpPr txBox="1"/>
          <p:nvPr/>
        </p:nvSpPr>
        <p:spPr>
          <a:xfrm>
            <a:off x="6455664" y="2441448"/>
            <a:ext cx="2432304" cy="822960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100" b="0">
                <a:solidFill>
                  <a:srgbClr val="212B36"/>
                </a:solidFill>
                <a:latin typeface="Aptos"/>
              </a:rPr>
              <a:t>•  Local inference can classify patterns near the device.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4B6EAF-3F7B-3C67-9222-6B548A27181B}"/>
              </a:ext>
            </a:extLst>
          </p:cNvPr>
          <p:cNvSpPr txBox="1"/>
          <p:nvPr/>
        </p:nvSpPr>
        <p:spPr>
          <a:xfrm>
            <a:off x="6455664" y="3465576"/>
            <a:ext cx="2432304" cy="822960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100" b="0">
                <a:solidFill>
                  <a:srgbClr val="212B36"/>
                </a:solidFill>
                <a:latin typeface="Aptos"/>
              </a:rPr>
              <a:t>•  Model choice and accuracy must be validated on real data.</a:t>
            </a:r>
          </a:p>
        </p:txBody>
      </p:sp>
      <p:sp>
        <p:nvSpPr>
          <p:cNvPr id="36" name="Rounded Rectangle 16">
            <a:extLst>
              <a:ext uri="{FF2B5EF4-FFF2-40B4-BE49-F238E27FC236}">
                <a16:creationId xmlns:a16="http://schemas.microsoft.com/office/drawing/2014/main" id="{B2D872FA-C6E1-3525-59DD-5BF7362BA3C4}"/>
              </a:ext>
            </a:extLst>
          </p:cNvPr>
          <p:cNvSpPr/>
          <p:nvPr/>
        </p:nvSpPr>
        <p:spPr>
          <a:xfrm>
            <a:off x="9198864" y="1481328"/>
            <a:ext cx="2487168" cy="342900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2B34A3-E83C-477D-F1B0-21A5FA403C09}"/>
              </a:ext>
            </a:extLst>
          </p:cNvPr>
          <p:cNvSpPr txBox="1"/>
          <p:nvPr/>
        </p:nvSpPr>
        <p:spPr>
          <a:xfrm>
            <a:off x="9345168" y="1645920"/>
            <a:ext cx="2194560" cy="530352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300" b="1">
                <a:solidFill>
                  <a:srgbClr val="DC413A"/>
                </a:solidFill>
                <a:latin typeface="Aptos"/>
              </a:rPr>
              <a:t>4  Real-time safety systems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94F2F7-D400-961A-64F2-F226EA52A312}"/>
              </a:ext>
            </a:extLst>
          </p:cNvPr>
          <p:cNvSpPr txBox="1"/>
          <p:nvPr/>
        </p:nvSpPr>
        <p:spPr>
          <a:xfrm>
            <a:off x="9354312" y="2441448"/>
            <a:ext cx="2176272" cy="822960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100" b="0">
                <a:solidFill>
                  <a:srgbClr val="212B36"/>
                </a:solidFill>
                <a:latin typeface="Aptos"/>
              </a:rPr>
              <a:t>•  Priority scheduling and IPC help organise safety tasks.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5554F7-4807-DA9B-3361-4BF4DA2D0C4A}"/>
              </a:ext>
            </a:extLst>
          </p:cNvPr>
          <p:cNvSpPr txBox="1"/>
          <p:nvPr/>
        </p:nvSpPr>
        <p:spPr>
          <a:xfrm>
            <a:off x="9354312" y="3465576"/>
            <a:ext cx="2176272" cy="822960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100" b="0">
                <a:solidFill>
                  <a:srgbClr val="212B36"/>
                </a:solidFill>
                <a:latin typeface="Aptos"/>
              </a:rPr>
              <a:t>•  QNX is a planned layer in this project, not yet integrated.</a:t>
            </a:r>
          </a:p>
        </p:txBody>
      </p:sp>
      <p:sp>
        <p:nvSpPr>
          <p:cNvPr id="44" name="Rounded Rectangle 20">
            <a:extLst>
              <a:ext uri="{FF2B5EF4-FFF2-40B4-BE49-F238E27FC236}">
                <a16:creationId xmlns:a16="http://schemas.microsoft.com/office/drawing/2014/main" id="{48856F0A-4972-E7F9-1216-342577B5BE03}"/>
              </a:ext>
            </a:extLst>
          </p:cNvPr>
          <p:cNvSpPr/>
          <p:nvPr/>
        </p:nvSpPr>
        <p:spPr>
          <a:xfrm>
            <a:off x="502920" y="5166360"/>
            <a:ext cx="11183112" cy="804672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E5274B-17DA-2EFE-E702-45E0664261D6}"/>
              </a:ext>
            </a:extLst>
          </p:cNvPr>
          <p:cNvSpPr txBox="1"/>
          <p:nvPr/>
        </p:nvSpPr>
        <p:spPr>
          <a:xfrm>
            <a:off x="713232" y="5285232"/>
            <a:ext cx="1481328" cy="274320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100" b="1">
                <a:solidFill>
                  <a:srgbClr val="DC413A"/>
                </a:solidFill>
                <a:latin typeface="Aptos"/>
              </a:rPr>
              <a:t>RESEARCH GAP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A3836D-8BA9-0FF0-238B-87C3051B7255}"/>
              </a:ext>
            </a:extLst>
          </p:cNvPr>
          <p:cNvSpPr txBox="1"/>
          <p:nvPr/>
        </p:nvSpPr>
        <p:spPr>
          <a:xfrm>
            <a:off x="2148840" y="5257800"/>
            <a:ext cx="9235440" cy="484632"/>
          </a:xfrm>
          <a:prstGeom prst="rect">
            <a:avLst/>
          </a:prstGeom>
          <a:noFill/>
        </p:spPr>
        <p:txBody>
          <a:bodyPr wrap="square" lIns="36576" tIns="18288" rIns="36576" bIns="9144">
            <a:spAutoFit/>
          </a:bodyPr>
          <a:lstStyle/>
          <a:p>
            <a:r>
              <a:rPr sz="1100" b="0">
                <a:solidFill>
                  <a:srgbClr val="162B42"/>
                </a:solidFill>
                <a:latin typeface="Aptos"/>
              </a:rPr>
              <a:t>Bring fire/smoke, thermal and electrical monitoring together with edge detection and a planned real-time safety architecture; validate the complete chain with measured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36185584-9CC8-0854-2C06-0434AAECB607}"/>
              </a:ext>
            </a:extLst>
          </p:cNvPr>
          <p:cNvSpPr/>
          <p:nvPr/>
        </p:nvSpPr>
        <p:spPr>
          <a:xfrm>
            <a:off x="438912" y="713232"/>
            <a:ext cx="1463040" cy="41148"/>
          </a:xfrm>
          <a:prstGeom prst="rect">
            <a:avLst/>
          </a:prstGeom>
          <a:solidFill>
            <a:srgbClr val="CE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3">
            <a:extLst>
              <a:ext uri="{FF2B5EF4-FFF2-40B4-BE49-F238E27FC236}">
                <a16:creationId xmlns:a16="http://schemas.microsoft.com/office/drawing/2014/main" id="{1CBA86F8-8E1F-8971-E0A6-069FF5C1AB19}"/>
              </a:ext>
            </a:extLst>
          </p:cNvPr>
          <p:cNvSpPr/>
          <p:nvPr/>
        </p:nvSpPr>
        <p:spPr>
          <a:xfrm>
            <a:off x="320040" y="960120"/>
            <a:ext cx="2880360" cy="4800600"/>
          </a:xfrm>
          <a:prstGeom prst="roundRect">
            <a:avLst/>
          </a:prstGeom>
          <a:solidFill>
            <a:srgbClr val="E1EFFF"/>
          </a:solidFill>
          <a:ln w="17780">
            <a:solidFill>
              <a:srgbClr val="53A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4">
            <a:extLst>
              <a:ext uri="{FF2B5EF4-FFF2-40B4-BE49-F238E27FC236}">
                <a16:creationId xmlns:a16="http://schemas.microsoft.com/office/drawing/2014/main" id="{0587C11A-6069-F873-9EAA-D41B27AA8852}"/>
              </a:ext>
            </a:extLst>
          </p:cNvPr>
          <p:cNvSpPr/>
          <p:nvPr/>
        </p:nvSpPr>
        <p:spPr>
          <a:xfrm>
            <a:off x="3703320" y="1353312"/>
            <a:ext cx="3749039" cy="3886200"/>
          </a:xfrm>
          <a:prstGeom prst="roundRect">
            <a:avLst/>
          </a:prstGeom>
          <a:solidFill>
            <a:srgbClr val="FFE9E9"/>
          </a:solidFill>
          <a:ln w="22860">
            <a:solidFill>
              <a:srgbClr val="CE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5">
            <a:extLst>
              <a:ext uri="{FF2B5EF4-FFF2-40B4-BE49-F238E27FC236}">
                <a16:creationId xmlns:a16="http://schemas.microsoft.com/office/drawing/2014/main" id="{8734FFF8-8A25-51A3-79A3-256694071FCE}"/>
              </a:ext>
            </a:extLst>
          </p:cNvPr>
          <p:cNvSpPr/>
          <p:nvPr/>
        </p:nvSpPr>
        <p:spPr>
          <a:xfrm>
            <a:off x="7973568" y="960120"/>
            <a:ext cx="3886200" cy="4800600"/>
          </a:xfrm>
          <a:prstGeom prst="roundRect">
            <a:avLst/>
          </a:prstGeom>
          <a:solidFill>
            <a:srgbClr val="E5F7E7"/>
          </a:solidFill>
          <a:ln w="17780">
            <a:solidFill>
              <a:srgbClr val="66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DB9E4AC-3C0F-CB1E-073F-3CA5AC805782}"/>
              </a:ext>
            </a:extLst>
          </p:cNvPr>
          <p:cNvSpPr txBox="1"/>
          <p:nvPr/>
        </p:nvSpPr>
        <p:spPr>
          <a:xfrm>
            <a:off x="438912" y="1014984"/>
            <a:ext cx="2651760" cy="320040"/>
          </a:xfrm>
          <a:prstGeom prst="rect">
            <a:avLst/>
          </a:prstGeom>
          <a:noFill/>
        </p:spPr>
        <p:txBody>
          <a:bodyPr wrap="none" lIns="73152" tIns="22860" rIns="73152" bIns="22860" anchor="ctr">
            <a:spAutoFit/>
          </a:bodyPr>
          <a:lstStyle/>
          <a:p>
            <a:pPr algn="ctr">
              <a:defRPr sz="1600" b="1">
                <a:solidFill>
                  <a:srgbClr val="122D4E"/>
                </a:solidFill>
                <a:latin typeface="Aptos"/>
              </a:defRPr>
            </a:pPr>
            <a:r>
              <a:t>INPUT: SENSORS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4EE8AC1-B816-59F3-A54F-19A616C73FE0}"/>
              </a:ext>
            </a:extLst>
          </p:cNvPr>
          <p:cNvSpPr txBox="1"/>
          <p:nvPr/>
        </p:nvSpPr>
        <p:spPr>
          <a:xfrm>
            <a:off x="3913632" y="1417320"/>
            <a:ext cx="3337560" cy="320040"/>
          </a:xfrm>
          <a:prstGeom prst="rect">
            <a:avLst/>
          </a:prstGeom>
          <a:noFill/>
        </p:spPr>
        <p:txBody>
          <a:bodyPr wrap="none" lIns="73152" tIns="22860" rIns="73152" bIns="22860" anchor="ctr">
            <a:spAutoFit/>
          </a:bodyPr>
          <a:lstStyle/>
          <a:p>
            <a:pPr algn="ctr">
              <a:defRPr sz="1700" b="1">
                <a:solidFill>
                  <a:srgbClr val="CE2A2A"/>
                </a:solidFill>
                <a:latin typeface="Aptos"/>
              </a:defRPr>
            </a:pPr>
            <a:r>
              <a:t>PROCESSING UNIT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5EA522A-80B3-4047-8863-F4FE7F744348}"/>
              </a:ext>
            </a:extLst>
          </p:cNvPr>
          <p:cNvSpPr txBox="1"/>
          <p:nvPr/>
        </p:nvSpPr>
        <p:spPr>
          <a:xfrm>
            <a:off x="8138160" y="1014984"/>
            <a:ext cx="3566160" cy="320040"/>
          </a:xfrm>
          <a:prstGeom prst="rect">
            <a:avLst/>
          </a:prstGeom>
          <a:noFill/>
        </p:spPr>
        <p:txBody>
          <a:bodyPr wrap="none" lIns="73152" tIns="22860" rIns="73152" bIns="22860" anchor="ctr">
            <a:spAutoFit/>
          </a:bodyPr>
          <a:lstStyle/>
          <a:p>
            <a:pPr algn="ctr">
              <a:defRPr sz="1600" b="1">
                <a:solidFill>
                  <a:srgbClr val="125932"/>
                </a:solidFill>
                <a:latin typeface="Aptos"/>
              </a:defRPr>
            </a:pPr>
            <a:r>
              <a:t>OUTPUT: ACTIONS &amp; ALERTS</a:t>
            </a:r>
          </a:p>
        </p:txBody>
      </p:sp>
      <p:sp>
        <p:nvSpPr>
          <p:cNvPr id="74" name="Rounded Rectangle 11">
            <a:extLst>
              <a:ext uri="{FF2B5EF4-FFF2-40B4-BE49-F238E27FC236}">
                <a16:creationId xmlns:a16="http://schemas.microsoft.com/office/drawing/2014/main" id="{258EF5D8-B6F7-04FD-77B8-094CC83BA79A}"/>
              </a:ext>
            </a:extLst>
          </p:cNvPr>
          <p:cNvSpPr/>
          <p:nvPr/>
        </p:nvSpPr>
        <p:spPr>
          <a:xfrm>
            <a:off x="502920" y="1481328"/>
            <a:ext cx="2514600" cy="658368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B1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B4155DE-22AE-E9F9-153B-6C846E71CD4D}"/>
              </a:ext>
            </a:extLst>
          </p:cNvPr>
          <p:cNvSpPr txBox="1"/>
          <p:nvPr/>
        </p:nvSpPr>
        <p:spPr>
          <a:xfrm>
            <a:off x="594360" y="1554480"/>
            <a:ext cx="365760" cy="411480"/>
          </a:xfrm>
          <a:prstGeom prst="rect">
            <a:avLst/>
          </a:prstGeom>
          <a:noFill/>
        </p:spPr>
        <p:txBody>
          <a:bodyPr wrap="none" lIns="0" tIns="22860" rIns="0" bIns="22860" anchor="ctr">
            <a:spAutoFit/>
          </a:bodyPr>
          <a:lstStyle/>
          <a:p>
            <a:pPr algn="ctr">
              <a:defRPr sz="1800" b="1">
                <a:solidFill>
                  <a:srgbClr val="122D4E"/>
                </a:solidFill>
                <a:latin typeface="Aptos"/>
              </a:defRPr>
            </a:pPr>
            <a:r>
              <a:t>🔥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3B97BE8-F63B-B2A1-5E4F-B08F8CA3EB86}"/>
              </a:ext>
            </a:extLst>
          </p:cNvPr>
          <p:cNvSpPr txBox="1"/>
          <p:nvPr/>
        </p:nvSpPr>
        <p:spPr>
          <a:xfrm>
            <a:off x="987552" y="1554480"/>
            <a:ext cx="1920240" cy="24688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200" b="1">
                <a:solidFill>
                  <a:srgbClr val="122D4E"/>
                </a:solidFill>
                <a:latin typeface="Aptos"/>
              </a:defRPr>
            </a:pPr>
            <a:r>
              <a:t>Flame sensor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12F58C1-672D-053A-162F-514750790424}"/>
              </a:ext>
            </a:extLst>
          </p:cNvPr>
          <p:cNvSpPr txBox="1"/>
          <p:nvPr/>
        </p:nvSpPr>
        <p:spPr>
          <a:xfrm>
            <a:off x="987552" y="1801368"/>
            <a:ext cx="1920240" cy="21031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000" b="0">
                <a:solidFill>
                  <a:srgbClr val="5A6876"/>
                </a:solidFill>
                <a:latin typeface="Aptos"/>
              </a:defRPr>
            </a:pPr>
            <a:r>
              <a:t>Fire detection</a:t>
            </a:r>
          </a:p>
        </p:txBody>
      </p:sp>
      <p:sp>
        <p:nvSpPr>
          <p:cNvPr id="78" name="Rounded Rectangle 15">
            <a:extLst>
              <a:ext uri="{FF2B5EF4-FFF2-40B4-BE49-F238E27FC236}">
                <a16:creationId xmlns:a16="http://schemas.microsoft.com/office/drawing/2014/main" id="{273AD955-93C9-2FDC-B213-2F92893C7EDC}"/>
              </a:ext>
            </a:extLst>
          </p:cNvPr>
          <p:cNvSpPr/>
          <p:nvPr/>
        </p:nvSpPr>
        <p:spPr>
          <a:xfrm>
            <a:off x="502920" y="2286000"/>
            <a:ext cx="2514600" cy="658368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B1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4BAD1DF-3344-5D8F-E603-CC1D5DC25F51}"/>
              </a:ext>
            </a:extLst>
          </p:cNvPr>
          <p:cNvSpPr txBox="1"/>
          <p:nvPr/>
        </p:nvSpPr>
        <p:spPr>
          <a:xfrm>
            <a:off x="594360" y="2359152"/>
            <a:ext cx="365760" cy="411480"/>
          </a:xfrm>
          <a:prstGeom prst="rect">
            <a:avLst/>
          </a:prstGeom>
          <a:noFill/>
        </p:spPr>
        <p:txBody>
          <a:bodyPr wrap="none" lIns="0" tIns="22860" rIns="0" bIns="22860" anchor="ctr">
            <a:spAutoFit/>
          </a:bodyPr>
          <a:lstStyle/>
          <a:p>
            <a:pPr algn="ctr">
              <a:defRPr sz="1800" b="1">
                <a:solidFill>
                  <a:srgbClr val="122D4E"/>
                </a:solidFill>
                <a:latin typeface="Aptos"/>
              </a:defRPr>
            </a:pPr>
            <a:r>
              <a:t>☁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15669FB-3450-904E-C858-5C27ABF75608}"/>
              </a:ext>
            </a:extLst>
          </p:cNvPr>
          <p:cNvSpPr txBox="1"/>
          <p:nvPr/>
        </p:nvSpPr>
        <p:spPr>
          <a:xfrm>
            <a:off x="987552" y="2359152"/>
            <a:ext cx="1920240" cy="24688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200" b="1">
                <a:solidFill>
                  <a:srgbClr val="122D4E"/>
                </a:solidFill>
                <a:latin typeface="Aptos"/>
              </a:defRPr>
            </a:pPr>
            <a:r>
              <a:t>MQ-5 smoke/gas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5BDDD41-A67F-0E66-23CA-236A81965456}"/>
              </a:ext>
            </a:extLst>
          </p:cNvPr>
          <p:cNvSpPr txBox="1"/>
          <p:nvPr/>
        </p:nvSpPr>
        <p:spPr>
          <a:xfrm>
            <a:off x="987552" y="2606040"/>
            <a:ext cx="1920240" cy="21031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000" b="0">
                <a:solidFill>
                  <a:srgbClr val="5A6876"/>
                </a:solidFill>
                <a:latin typeface="Aptos"/>
              </a:defRPr>
            </a:pPr>
            <a:r>
              <a:t>Smoke / gas detection</a:t>
            </a:r>
          </a:p>
        </p:txBody>
      </p:sp>
      <p:sp>
        <p:nvSpPr>
          <p:cNvPr id="82" name="Rounded Rectangle 19">
            <a:extLst>
              <a:ext uri="{FF2B5EF4-FFF2-40B4-BE49-F238E27FC236}">
                <a16:creationId xmlns:a16="http://schemas.microsoft.com/office/drawing/2014/main" id="{E0820D26-3A25-3971-E8E0-3AC3652C38EB}"/>
              </a:ext>
            </a:extLst>
          </p:cNvPr>
          <p:cNvSpPr/>
          <p:nvPr/>
        </p:nvSpPr>
        <p:spPr>
          <a:xfrm>
            <a:off x="502920" y="3090672"/>
            <a:ext cx="2514600" cy="658368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B1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EC8C556-36BB-24E2-AF81-25C9277A3BA3}"/>
              </a:ext>
            </a:extLst>
          </p:cNvPr>
          <p:cNvSpPr txBox="1"/>
          <p:nvPr/>
        </p:nvSpPr>
        <p:spPr>
          <a:xfrm>
            <a:off x="594360" y="3163824"/>
            <a:ext cx="365760" cy="411480"/>
          </a:xfrm>
          <a:prstGeom prst="rect">
            <a:avLst/>
          </a:prstGeom>
          <a:noFill/>
        </p:spPr>
        <p:txBody>
          <a:bodyPr wrap="none" lIns="0" tIns="22860" rIns="0" bIns="22860" anchor="ctr">
            <a:spAutoFit/>
          </a:bodyPr>
          <a:lstStyle/>
          <a:p>
            <a:pPr algn="ctr">
              <a:defRPr sz="1800" b="1">
                <a:solidFill>
                  <a:srgbClr val="122D4E"/>
                </a:solidFill>
                <a:latin typeface="Aptos"/>
              </a:defRPr>
            </a:pPr>
            <a:r>
              <a:t>🌡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2C9B1A1-49EE-A1AA-EC66-97B9F9DF0EAB}"/>
              </a:ext>
            </a:extLst>
          </p:cNvPr>
          <p:cNvSpPr txBox="1"/>
          <p:nvPr/>
        </p:nvSpPr>
        <p:spPr>
          <a:xfrm>
            <a:off x="987552" y="3163824"/>
            <a:ext cx="1920240" cy="24688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200" b="1">
                <a:solidFill>
                  <a:srgbClr val="122D4E"/>
                </a:solidFill>
                <a:latin typeface="Aptos"/>
              </a:defRPr>
            </a:pPr>
            <a:r>
              <a:t>DS18B20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DD8CFDC-4C69-77CF-9A96-488DF675A11D}"/>
              </a:ext>
            </a:extLst>
          </p:cNvPr>
          <p:cNvSpPr txBox="1"/>
          <p:nvPr/>
        </p:nvSpPr>
        <p:spPr>
          <a:xfrm>
            <a:off x="987552" y="3410712"/>
            <a:ext cx="1920240" cy="21031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000" b="0">
                <a:solidFill>
                  <a:srgbClr val="5A6876"/>
                </a:solidFill>
                <a:latin typeface="Aptos"/>
              </a:defRPr>
            </a:pPr>
            <a:r>
              <a:t>Battery temperature</a:t>
            </a:r>
          </a:p>
        </p:txBody>
      </p:sp>
      <p:sp>
        <p:nvSpPr>
          <p:cNvPr id="86" name="Rounded Rectangle 23">
            <a:extLst>
              <a:ext uri="{FF2B5EF4-FFF2-40B4-BE49-F238E27FC236}">
                <a16:creationId xmlns:a16="http://schemas.microsoft.com/office/drawing/2014/main" id="{81AA0568-3D3C-737A-3DAC-34DDE6E027FF}"/>
              </a:ext>
            </a:extLst>
          </p:cNvPr>
          <p:cNvSpPr/>
          <p:nvPr/>
        </p:nvSpPr>
        <p:spPr>
          <a:xfrm>
            <a:off x="502920" y="3895344"/>
            <a:ext cx="2514600" cy="658368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B1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C83A17D-97F0-BE3F-3506-A123A9CD5CFB}"/>
              </a:ext>
            </a:extLst>
          </p:cNvPr>
          <p:cNvSpPr txBox="1"/>
          <p:nvPr/>
        </p:nvSpPr>
        <p:spPr>
          <a:xfrm>
            <a:off x="594360" y="3968496"/>
            <a:ext cx="365760" cy="411480"/>
          </a:xfrm>
          <a:prstGeom prst="rect">
            <a:avLst/>
          </a:prstGeom>
          <a:noFill/>
        </p:spPr>
        <p:txBody>
          <a:bodyPr wrap="none" lIns="0" tIns="22860" rIns="0" bIns="22860" anchor="ctr">
            <a:spAutoFit/>
          </a:bodyPr>
          <a:lstStyle/>
          <a:p>
            <a:pPr algn="ctr">
              <a:defRPr sz="1800" b="1">
                <a:solidFill>
                  <a:srgbClr val="122D4E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1E35542-2714-0CD1-099D-F1935912F48F}"/>
              </a:ext>
            </a:extLst>
          </p:cNvPr>
          <p:cNvSpPr txBox="1"/>
          <p:nvPr/>
        </p:nvSpPr>
        <p:spPr>
          <a:xfrm>
            <a:off x="987552" y="3968496"/>
            <a:ext cx="1920240" cy="24688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200" b="1">
                <a:solidFill>
                  <a:srgbClr val="122D4E"/>
                </a:solidFill>
                <a:latin typeface="Aptos"/>
              </a:defRPr>
            </a:pPr>
            <a:r>
              <a:t>Voltage divider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CDB1EF3-1318-F4C7-30CD-1DEA3A7D68F4}"/>
              </a:ext>
            </a:extLst>
          </p:cNvPr>
          <p:cNvSpPr txBox="1"/>
          <p:nvPr/>
        </p:nvSpPr>
        <p:spPr>
          <a:xfrm>
            <a:off x="987552" y="4215383"/>
            <a:ext cx="1920240" cy="21031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000" b="0">
                <a:solidFill>
                  <a:srgbClr val="5A6876"/>
                </a:solidFill>
                <a:latin typeface="Aptos"/>
              </a:defRPr>
            </a:pPr>
            <a:r>
              <a:t>Battery voltage</a:t>
            </a:r>
          </a:p>
        </p:txBody>
      </p:sp>
      <p:sp>
        <p:nvSpPr>
          <p:cNvPr id="90" name="Rounded Rectangle 27">
            <a:extLst>
              <a:ext uri="{FF2B5EF4-FFF2-40B4-BE49-F238E27FC236}">
                <a16:creationId xmlns:a16="http://schemas.microsoft.com/office/drawing/2014/main" id="{09CEA0FF-61CF-A2A4-AC88-B7F43E9FE345}"/>
              </a:ext>
            </a:extLst>
          </p:cNvPr>
          <p:cNvSpPr/>
          <p:nvPr/>
        </p:nvSpPr>
        <p:spPr>
          <a:xfrm>
            <a:off x="502920" y="4700016"/>
            <a:ext cx="2514600" cy="658368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B1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945E6CF-1CCC-5799-748C-3569EFEAD6DB}"/>
              </a:ext>
            </a:extLst>
          </p:cNvPr>
          <p:cNvSpPr txBox="1"/>
          <p:nvPr/>
        </p:nvSpPr>
        <p:spPr>
          <a:xfrm>
            <a:off x="594360" y="4773168"/>
            <a:ext cx="365760" cy="411480"/>
          </a:xfrm>
          <a:prstGeom prst="rect">
            <a:avLst/>
          </a:prstGeom>
          <a:noFill/>
        </p:spPr>
        <p:txBody>
          <a:bodyPr wrap="none" lIns="0" tIns="22860" rIns="0" bIns="22860" anchor="ctr">
            <a:spAutoFit/>
          </a:bodyPr>
          <a:lstStyle/>
          <a:p>
            <a:pPr algn="ctr">
              <a:defRPr sz="1800" b="1">
                <a:solidFill>
                  <a:srgbClr val="122D4E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8BCD975-12A5-B437-0EB4-7AD8FF97C725}"/>
              </a:ext>
            </a:extLst>
          </p:cNvPr>
          <p:cNvSpPr txBox="1"/>
          <p:nvPr/>
        </p:nvSpPr>
        <p:spPr>
          <a:xfrm>
            <a:off x="987552" y="4773168"/>
            <a:ext cx="1920240" cy="24688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200" b="1">
                <a:solidFill>
                  <a:srgbClr val="122D4E"/>
                </a:solidFill>
                <a:latin typeface="Aptos"/>
              </a:defRPr>
            </a:pPr>
            <a:r>
              <a:t>ACS712 current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65DE7B7-F7C4-DDC6-902D-12194C53FE38}"/>
              </a:ext>
            </a:extLst>
          </p:cNvPr>
          <p:cNvSpPr txBox="1"/>
          <p:nvPr/>
        </p:nvSpPr>
        <p:spPr>
          <a:xfrm>
            <a:off x="987552" y="5020056"/>
            <a:ext cx="1920240" cy="21031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000" b="0">
                <a:solidFill>
                  <a:srgbClr val="5A6876"/>
                </a:solidFill>
                <a:latin typeface="Aptos"/>
              </a:defRPr>
            </a:pPr>
            <a:r>
              <a:t>Current monitoring</a:t>
            </a:r>
          </a:p>
        </p:txBody>
      </p:sp>
      <p:sp>
        <p:nvSpPr>
          <p:cNvPr id="94" name="Rounded Rectangle 31">
            <a:extLst>
              <a:ext uri="{FF2B5EF4-FFF2-40B4-BE49-F238E27FC236}">
                <a16:creationId xmlns:a16="http://schemas.microsoft.com/office/drawing/2014/main" id="{79725EA6-0D16-1A74-218A-EAAFB64CCE34}"/>
              </a:ext>
            </a:extLst>
          </p:cNvPr>
          <p:cNvSpPr/>
          <p:nvPr/>
        </p:nvSpPr>
        <p:spPr>
          <a:xfrm>
            <a:off x="4315968" y="1874519"/>
            <a:ext cx="25420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88DEDDF-8A79-B0EE-8F05-F45677762BC8}"/>
              </a:ext>
            </a:extLst>
          </p:cNvPr>
          <p:cNvSpPr txBox="1"/>
          <p:nvPr/>
        </p:nvSpPr>
        <p:spPr>
          <a:xfrm>
            <a:off x="4480560" y="1984248"/>
            <a:ext cx="2212848" cy="310896"/>
          </a:xfrm>
          <a:prstGeom prst="rect">
            <a:avLst/>
          </a:prstGeom>
          <a:noFill/>
        </p:spPr>
        <p:txBody>
          <a:bodyPr wrap="none" lIns="73152" tIns="22860" rIns="73152" bIns="22860" anchor="ctr">
            <a:spAutoFit/>
          </a:bodyPr>
          <a:lstStyle/>
          <a:p>
            <a:pPr algn="ctr">
              <a:defRPr sz="2300" b="1">
                <a:solidFill>
                  <a:srgbClr val="122D4E"/>
                </a:solidFill>
                <a:latin typeface="Aptos"/>
              </a:defRPr>
            </a:pPr>
            <a:r>
              <a:t>ESP32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FC425A3-4B44-B4F7-9950-E10FEADFB3DA}"/>
              </a:ext>
            </a:extLst>
          </p:cNvPr>
          <p:cNvSpPr txBox="1"/>
          <p:nvPr/>
        </p:nvSpPr>
        <p:spPr>
          <a:xfrm>
            <a:off x="4480560" y="2331720"/>
            <a:ext cx="2212848" cy="384048"/>
          </a:xfrm>
          <a:prstGeom prst="rect">
            <a:avLst/>
          </a:prstGeom>
          <a:noFill/>
        </p:spPr>
        <p:txBody>
          <a:bodyPr wrap="none" lIns="73152" tIns="22860" rIns="73152" bIns="22860" anchor="ctr">
            <a:spAutoFit/>
          </a:bodyPr>
          <a:lstStyle/>
          <a:p>
            <a:pPr algn="ctr">
              <a:defRPr sz="1100" b="0">
                <a:solidFill>
                  <a:srgbClr val="5A6876"/>
                </a:solidFill>
                <a:latin typeface="Aptos"/>
              </a:defRPr>
            </a:pPr>
            <a:r>
              <a:t>Sensor acquisition + local logic</a:t>
            </a:r>
          </a:p>
        </p:txBody>
      </p:sp>
      <p:sp>
        <p:nvSpPr>
          <p:cNvPr id="97" name="Rounded Rectangle 34">
            <a:extLst>
              <a:ext uri="{FF2B5EF4-FFF2-40B4-BE49-F238E27FC236}">
                <a16:creationId xmlns:a16="http://schemas.microsoft.com/office/drawing/2014/main" id="{A50E31E9-2DD6-ADCF-1263-DDAFE406613C}"/>
              </a:ext>
            </a:extLst>
          </p:cNvPr>
          <p:cNvSpPr/>
          <p:nvPr/>
        </p:nvSpPr>
        <p:spPr>
          <a:xfrm>
            <a:off x="4224528" y="3273552"/>
            <a:ext cx="2724912" cy="1051560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EB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A8587F-BC81-23EC-F8C9-FB90178D49E5}"/>
              </a:ext>
            </a:extLst>
          </p:cNvPr>
          <p:cNvSpPr txBox="1"/>
          <p:nvPr/>
        </p:nvSpPr>
        <p:spPr>
          <a:xfrm>
            <a:off x="4389120" y="3383280"/>
            <a:ext cx="2395728" cy="274320"/>
          </a:xfrm>
          <a:prstGeom prst="rect">
            <a:avLst/>
          </a:prstGeom>
          <a:noFill/>
        </p:spPr>
        <p:txBody>
          <a:bodyPr wrap="none" lIns="73152" tIns="22860" rIns="73152" bIns="22860" anchor="ctr">
            <a:spAutoFit/>
          </a:bodyPr>
          <a:lstStyle/>
          <a:p>
            <a:pPr algn="ctr">
              <a:defRPr sz="1500" b="1">
                <a:solidFill>
                  <a:srgbClr val="CE2A2A"/>
                </a:solidFill>
                <a:latin typeface="Aptos"/>
              </a:defRPr>
            </a:pPr>
            <a:r>
              <a:t>TinyML fault detection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FB7DFAB-4501-8ADC-DA13-0CF279C49E15}"/>
              </a:ext>
            </a:extLst>
          </p:cNvPr>
          <p:cNvSpPr txBox="1"/>
          <p:nvPr/>
        </p:nvSpPr>
        <p:spPr>
          <a:xfrm>
            <a:off x="4389120" y="3685032"/>
            <a:ext cx="2395728" cy="457200"/>
          </a:xfrm>
          <a:prstGeom prst="rect">
            <a:avLst/>
          </a:prstGeom>
          <a:noFill/>
        </p:spPr>
        <p:txBody>
          <a:bodyPr wrap="none" lIns="73152" tIns="22860" rIns="73152" bIns="22860" anchor="ctr">
            <a:spAutoFit/>
          </a:bodyPr>
          <a:lstStyle/>
          <a:p>
            <a:pPr algn="ctr">
              <a:defRPr sz="1100" b="0">
                <a:solidFill>
                  <a:srgbClr val="202D3A"/>
                </a:solidFill>
                <a:latin typeface="Aptos"/>
              </a:defRPr>
            </a:pPr>
            <a:r>
              <a:t>Normal / abnormal condition</a:t>
            </a:r>
            <a:br/>
            <a:r>
              <a:t>classification*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5E7DB09-B7B9-35BD-9D05-F53BD1CD3835}"/>
              </a:ext>
            </a:extLst>
          </p:cNvPr>
          <p:cNvSpPr txBox="1"/>
          <p:nvPr/>
        </p:nvSpPr>
        <p:spPr>
          <a:xfrm>
            <a:off x="4069080" y="4526280"/>
            <a:ext cx="3017520" cy="438912"/>
          </a:xfrm>
          <a:prstGeom prst="rect">
            <a:avLst/>
          </a:prstGeom>
          <a:noFill/>
        </p:spPr>
        <p:txBody>
          <a:bodyPr wrap="none" lIns="73152" tIns="22860" rIns="73152" bIns="22860" anchor="ctr">
            <a:spAutoFit/>
          </a:bodyPr>
          <a:lstStyle/>
          <a:p>
            <a:pPr algn="ctr">
              <a:defRPr sz="900" b="0">
                <a:solidFill>
                  <a:srgbClr val="5A6876"/>
                </a:solidFill>
                <a:latin typeface="Aptos"/>
              </a:defRPr>
            </a:pPr>
            <a:r>
              <a:t>*Include only if the model is running</a:t>
            </a:r>
            <a:br/>
            <a:r>
              <a:t>on the ESP32 in your demo.</a:t>
            </a:r>
          </a:p>
        </p:txBody>
      </p:sp>
      <p:sp>
        <p:nvSpPr>
          <p:cNvPr id="101" name="Rounded Rectangle 38">
            <a:extLst>
              <a:ext uri="{FF2B5EF4-FFF2-40B4-BE49-F238E27FC236}">
                <a16:creationId xmlns:a16="http://schemas.microsoft.com/office/drawing/2014/main" id="{94250028-4B22-A773-DC6B-0DE2C7950763}"/>
              </a:ext>
            </a:extLst>
          </p:cNvPr>
          <p:cNvSpPr/>
          <p:nvPr/>
        </p:nvSpPr>
        <p:spPr>
          <a:xfrm>
            <a:off x="8165592" y="1481328"/>
            <a:ext cx="3493008" cy="658368"/>
          </a:xfrm>
          <a:prstGeom prst="roundRect">
            <a:avLst/>
          </a:prstGeom>
          <a:solidFill>
            <a:srgbClr val="F7FDF7"/>
          </a:solidFill>
          <a:ln w="10160">
            <a:solidFill>
              <a:srgbClr val="B9E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DD0A181-0EF1-305B-3090-D0EEE35002E5}"/>
              </a:ext>
            </a:extLst>
          </p:cNvPr>
          <p:cNvSpPr txBox="1"/>
          <p:nvPr/>
        </p:nvSpPr>
        <p:spPr>
          <a:xfrm>
            <a:off x="8339327" y="1545336"/>
            <a:ext cx="1115568" cy="25603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200" b="1">
                <a:solidFill>
                  <a:srgbClr val="125932"/>
                </a:solidFill>
                <a:latin typeface="Aptos"/>
              </a:defRPr>
            </a:pPr>
            <a:r>
              <a:t>LCD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4EE8EBE-C943-3253-C97B-986024570EF6}"/>
              </a:ext>
            </a:extLst>
          </p:cNvPr>
          <p:cNvSpPr txBox="1"/>
          <p:nvPr/>
        </p:nvSpPr>
        <p:spPr>
          <a:xfrm>
            <a:off x="9464040" y="1545336"/>
            <a:ext cx="2057400" cy="50292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000" b="0">
                <a:solidFill>
                  <a:srgbClr val="202D3A"/>
                </a:solidFill>
                <a:latin typeface="Aptos"/>
              </a:defRPr>
            </a:pPr>
            <a:r>
              <a:t>Live parameters &amp; fault status</a:t>
            </a:r>
          </a:p>
        </p:txBody>
      </p:sp>
      <p:sp>
        <p:nvSpPr>
          <p:cNvPr id="104" name="Rounded Rectangle 41">
            <a:extLst>
              <a:ext uri="{FF2B5EF4-FFF2-40B4-BE49-F238E27FC236}">
                <a16:creationId xmlns:a16="http://schemas.microsoft.com/office/drawing/2014/main" id="{DD4465BE-8972-4023-2FB5-C4B096CC8BF7}"/>
              </a:ext>
            </a:extLst>
          </p:cNvPr>
          <p:cNvSpPr/>
          <p:nvPr/>
        </p:nvSpPr>
        <p:spPr>
          <a:xfrm>
            <a:off x="8165592" y="2286000"/>
            <a:ext cx="3493008" cy="658368"/>
          </a:xfrm>
          <a:prstGeom prst="roundRect">
            <a:avLst/>
          </a:prstGeom>
          <a:solidFill>
            <a:srgbClr val="F7FDF7"/>
          </a:solidFill>
          <a:ln w="10160">
            <a:solidFill>
              <a:srgbClr val="B9E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90E58EE-5ECF-7B11-F087-E293FC43FE40}"/>
              </a:ext>
            </a:extLst>
          </p:cNvPr>
          <p:cNvSpPr txBox="1"/>
          <p:nvPr/>
        </p:nvSpPr>
        <p:spPr>
          <a:xfrm>
            <a:off x="8339327" y="2350008"/>
            <a:ext cx="1115568" cy="25603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200" b="1">
                <a:solidFill>
                  <a:srgbClr val="125932"/>
                </a:solidFill>
                <a:latin typeface="Aptos"/>
              </a:defRPr>
            </a:pPr>
            <a:r>
              <a:t>Buzzer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C31A009-AAC4-FFD6-0FB8-454A01B221CC}"/>
              </a:ext>
            </a:extLst>
          </p:cNvPr>
          <p:cNvSpPr txBox="1"/>
          <p:nvPr/>
        </p:nvSpPr>
        <p:spPr>
          <a:xfrm>
            <a:off x="9464040" y="2350008"/>
            <a:ext cx="2057400" cy="50292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000" b="0">
                <a:solidFill>
                  <a:srgbClr val="202D3A"/>
                </a:solidFill>
                <a:latin typeface="Aptos"/>
              </a:defRPr>
            </a:pPr>
            <a:r>
              <a:t>Local audible alert — planned</a:t>
            </a:r>
          </a:p>
        </p:txBody>
      </p:sp>
      <p:sp>
        <p:nvSpPr>
          <p:cNvPr id="107" name="Rounded Rectangle 44">
            <a:extLst>
              <a:ext uri="{FF2B5EF4-FFF2-40B4-BE49-F238E27FC236}">
                <a16:creationId xmlns:a16="http://schemas.microsoft.com/office/drawing/2014/main" id="{C693DFF2-7A55-7F05-45E8-DB4C91FE9A21}"/>
              </a:ext>
            </a:extLst>
          </p:cNvPr>
          <p:cNvSpPr/>
          <p:nvPr/>
        </p:nvSpPr>
        <p:spPr>
          <a:xfrm>
            <a:off x="8165592" y="3090672"/>
            <a:ext cx="3493008" cy="658368"/>
          </a:xfrm>
          <a:prstGeom prst="roundRect">
            <a:avLst/>
          </a:prstGeom>
          <a:solidFill>
            <a:srgbClr val="F7FDF7"/>
          </a:solidFill>
          <a:ln w="10160">
            <a:solidFill>
              <a:srgbClr val="B9E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9B97CE1-51CD-2108-2876-52618DC64B47}"/>
              </a:ext>
            </a:extLst>
          </p:cNvPr>
          <p:cNvSpPr txBox="1"/>
          <p:nvPr/>
        </p:nvSpPr>
        <p:spPr>
          <a:xfrm>
            <a:off x="8339327" y="3154679"/>
            <a:ext cx="1115568" cy="25603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200" b="1">
                <a:solidFill>
                  <a:srgbClr val="125932"/>
                </a:solidFill>
                <a:latin typeface="Aptos"/>
              </a:defRPr>
            </a:pPr>
            <a:r>
              <a:t>Cooling fan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0ED7DE5-B937-8766-E9CC-BE0566A46482}"/>
              </a:ext>
            </a:extLst>
          </p:cNvPr>
          <p:cNvSpPr txBox="1"/>
          <p:nvPr/>
        </p:nvSpPr>
        <p:spPr>
          <a:xfrm>
            <a:off x="9464040" y="3154679"/>
            <a:ext cx="2057400" cy="50292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000" b="0">
                <a:solidFill>
                  <a:srgbClr val="202D3A"/>
                </a:solidFill>
                <a:latin typeface="Aptos"/>
              </a:defRPr>
            </a:pPr>
            <a:r>
              <a:t>Turns on at high temperature</a:t>
            </a:r>
          </a:p>
        </p:txBody>
      </p:sp>
      <p:sp>
        <p:nvSpPr>
          <p:cNvPr id="110" name="Rounded Rectangle 47">
            <a:extLst>
              <a:ext uri="{FF2B5EF4-FFF2-40B4-BE49-F238E27FC236}">
                <a16:creationId xmlns:a16="http://schemas.microsoft.com/office/drawing/2014/main" id="{91F05DFB-06D7-A487-9991-B434C02225FE}"/>
              </a:ext>
            </a:extLst>
          </p:cNvPr>
          <p:cNvSpPr/>
          <p:nvPr/>
        </p:nvSpPr>
        <p:spPr>
          <a:xfrm>
            <a:off x="8165592" y="3895344"/>
            <a:ext cx="3493008" cy="658368"/>
          </a:xfrm>
          <a:prstGeom prst="roundRect">
            <a:avLst/>
          </a:prstGeom>
          <a:solidFill>
            <a:srgbClr val="F7FDF7"/>
          </a:solidFill>
          <a:ln w="10160">
            <a:solidFill>
              <a:srgbClr val="B9E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51CAF09-6789-E9A8-CFFA-AC21BF094917}"/>
              </a:ext>
            </a:extLst>
          </p:cNvPr>
          <p:cNvSpPr txBox="1"/>
          <p:nvPr/>
        </p:nvSpPr>
        <p:spPr>
          <a:xfrm>
            <a:off x="8339327" y="3959352"/>
            <a:ext cx="1115568" cy="25603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200" b="1">
                <a:solidFill>
                  <a:srgbClr val="125932"/>
                </a:solidFill>
                <a:latin typeface="Aptos"/>
              </a:defRPr>
            </a:pPr>
            <a:r>
              <a:t>SIM800 GSM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EAB9C68-5BFB-9766-014D-34BCE3183924}"/>
              </a:ext>
            </a:extLst>
          </p:cNvPr>
          <p:cNvSpPr txBox="1"/>
          <p:nvPr/>
        </p:nvSpPr>
        <p:spPr>
          <a:xfrm>
            <a:off x="9464040" y="3959352"/>
            <a:ext cx="2057400" cy="50292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000" b="0">
                <a:solidFill>
                  <a:srgbClr val="202D3A"/>
                </a:solidFill>
                <a:latin typeface="Aptos"/>
              </a:defRPr>
            </a:pPr>
            <a:r>
              <a:t>SMS fault notification</a:t>
            </a:r>
          </a:p>
        </p:txBody>
      </p:sp>
      <p:sp>
        <p:nvSpPr>
          <p:cNvPr id="113" name="Rounded Rectangle 50">
            <a:extLst>
              <a:ext uri="{FF2B5EF4-FFF2-40B4-BE49-F238E27FC236}">
                <a16:creationId xmlns:a16="http://schemas.microsoft.com/office/drawing/2014/main" id="{B5BF9242-7BE9-FF0E-13BC-CD1D69CB25E2}"/>
              </a:ext>
            </a:extLst>
          </p:cNvPr>
          <p:cNvSpPr/>
          <p:nvPr/>
        </p:nvSpPr>
        <p:spPr>
          <a:xfrm>
            <a:off x="8165592" y="4700016"/>
            <a:ext cx="3493008" cy="658368"/>
          </a:xfrm>
          <a:prstGeom prst="roundRect">
            <a:avLst/>
          </a:prstGeom>
          <a:solidFill>
            <a:srgbClr val="F7FDF7"/>
          </a:solidFill>
          <a:ln w="10160">
            <a:solidFill>
              <a:srgbClr val="B9E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50F4555-B9A1-34EF-9CFF-AD739A26CC54}"/>
              </a:ext>
            </a:extLst>
          </p:cNvPr>
          <p:cNvSpPr txBox="1"/>
          <p:nvPr/>
        </p:nvSpPr>
        <p:spPr>
          <a:xfrm>
            <a:off x="8339327" y="4764024"/>
            <a:ext cx="1115568" cy="25603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200" b="1">
                <a:solidFill>
                  <a:srgbClr val="125932"/>
                </a:solidFill>
                <a:latin typeface="Aptos"/>
              </a:defRPr>
            </a:pPr>
            <a:r>
              <a:t>ThingSpeak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2203BA6-FC63-25D5-2F7D-4FF046FBD41F}"/>
              </a:ext>
            </a:extLst>
          </p:cNvPr>
          <p:cNvSpPr txBox="1"/>
          <p:nvPr/>
        </p:nvSpPr>
        <p:spPr>
          <a:xfrm>
            <a:off x="9464040" y="4764024"/>
            <a:ext cx="2057400" cy="50292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000" b="0">
                <a:solidFill>
                  <a:srgbClr val="202D3A"/>
                </a:solidFill>
                <a:latin typeface="Aptos"/>
              </a:defRPr>
            </a:pPr>
            <a:r>
              <a:t>Wi-Fi / IoT live monitoring</a:t>
            </a:r>
          </a:p>
        </p:txBody>
      </p:sp>
      <p:cxnSp>
        <p:nvCxnSpPr>
          <p:cNvPr id="116" name="Connector 53">
            <a:extLst>
              <a:ext uri="{FF2B5EF4-FFF2-40B4-BE49-F238E27FC236}">
                <a16:creationId xmlns:a16="http://schemas.microsoft.com/office/drawing/2014/main" id="{A632326C-A4AF-C929-E803-ABC5A05E0E35}"/>
              </a:ext>
            </a:extLst>
          </p:cNvPr>
          <p:cNvCxnSpPr/>
          <p:nvPr/>
        </p:nvCxnSpPr>
        <p:spPr>
          <a:xfrm>
            <a:off x="3200400" y="3337560"/>
            <a:ext cx="475487" cy="0"/>
          </a:xfrm>
          <a:prstGeom prst="line">
            <a:avLst/>
          </a:prstGeom>
          <a:ln w="20320">
            <a:solidFill>
              <a:srgbClr val="12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54">
            <a:extLst>
              <a:ext uri="{FF2B5EF4-FFF2-40B4-BE49-F238E27FC236}">
                <a16:creationId xmlns:a16="http://schemas.microsoft.com/office/drawing/2014/main" id="{C1DF1FB5-DA06-E34D-0C01-9BB0A6ACC7B3}"/>
              </a:ext>
            </a:extLst>
          </p:cNvPr>
          <p:cNvCxnSpPr/>
          <p:nvPr/>
        </p:nvCxnSpPr>
        <p:spPr>
          <a:xfrm>
            <a:off x="7452360" y="3337560"/>
            <a:ext cx="484632" cy="0"/>
          </a:xfrm>
          <a:prstGeom prst="line">
            <a:avLst/>
          </a:prstGeom>
          <a:ln w="20320">
            <a:solidFill>
              <a:srgbClr val="12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">
            <a:extLst>
              <a:ext uri="{FF2B5EF4-FFF2-40B4-BE49-F238E27FC236}">
                <a16:creationId xmlns:a16="http://schemas.microsoft.com/office/drawing/2014/main" id="{F624C8BA-9F9B-FB0C-0960-925C7B3BA855}"/>
              </a:ext>
            </a:extLst>
          </p:cNvPr>
          <p:cNvSpPr txBox="1"/>
          <p:nvPr/>
        </p:nvSpPr>
        <p:spPr>
          <a:xfrm>
            <a:off x="417576" y="212651"/>
            <a:ext cx="3790781" cy="461665"/>
          </a:xfrm>
          <a:prstGeom prst="rect">
            <a:avLst/>
          </a:prstGeom>
          <a:noFill/>
        </p:spPr>
        <p:txBody>
          <a:bodyPr wrap="none" lIns="0" tIns="22860" rIns="0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700" b="1">
                <a:solidFill>
                  <a:srgbClr val="122D4E"/>
                </a:solidFill>
                <a:latin typeface="Aptos"/>
              </a:defRPr>
            </a:pPr>
            <a:r>
              <a:rPr b="1" dirty="0"/>
              <a:t>SYSTEM</a:t>
            </a:r>
            <a:r>
              <a:rPr dirty="0"/>
              <a:t> ARCHITECTURE</a:t>
            </a:r>
          </a:p>
        </p:txBody>
      </p:sp>
      <p:sp>
        <p:nvSpPr>
          <p:cNvPr id="124" name="Rounded Rectangle 3">
            <a:extLst>
              <a:ext uri="{FF2B5EF4-FFF2-40B4-BE49-F238E27FC236}">
                <a16:creationId xmlns:a16="http://schemas.microsoft.com/office/drawing/2014/main" id="{2BCF2DDF-0FCB-728F-9810-5B130403F57E}"/>
              </a:ext>
            </a:extLst>
          </p:cNvPr>
          <p:cNvSpPr/>
          <p:nvPr/>
        </p:nvSpPr>
        <p:spPr>
          <a:xfrm>
            <a:off x="326136" y="987552"/>
            <a:ext cx="2880360" cy="4800600"/>
          </a:xfrm>
          <a:prstGeom prst="roundRect">
            <a:avLst/>
          </a:prstGeom>
          <a:solidFill>
            <a:srgbClr val="E1EFFF"/>
          </a:solidFill>
          <a:ln w="17780">
            <a:solidFill>
              <a:srgbClr val="53A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5" name="Rounded Rectangle 4">
            <a:extLst>
              <a:ext uri="{FF2B5EF4-FFF2-40B4-BE49-F238E27FC236}">
                <a16:creationId xmlns:a16="http://schemas.microsoft.com/office/drawing/2014/main" id="{7DE2EE53-6958-FA7B-300F-0A44443B8FDD}"/>
              </a:ext>
            </a:extLst>
          </p:cNvPr>
          <p:cNvSpPr/>
          <p:nvPr/>
        </p:nvSpPr>
        <p:spPr>
          <a:xfrm>
            <a:off x="3709416" y="1380744"/>
            <a:ext cx="3749039" cy="3886200"/>
          </a:xfrm>
          <a:prstGeom prst="roundRect">
            <a:avLst/>
          </a:prstGeom>
          <a:solidFill>
            <a:srgbClr val="FFE9E9"/>
          </a:solidFill>
          <a:ln w="22860">
            <a:solidFill>
              <a:srgbClr val="CE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6" name="Rounded Rectangle 5">
            <a:extLst>
              <a:ext uri="{FF2B5EF4-FFF2-40B4-BE49-F238E27FC236}">
                <a16:creationId xmlns:a16="http://schemas.microsoft.com/office/drawing/2014/main" id="{D9300A60-1082-ECC2-30F0-128C032F55E0}"/>
              </a:ext>
            </a:extLst>
          </p:cNvPr>
          <p:cNvSpPr/>
          <p:nvPr/>
        </p:nvSpPr>
        <p:spPr>
          <a:xfrm>
            <a:off x="7979664" y="987552"/>
            <a:ext cx="3886200" cy="4800600"/>
          </a:xfrm>
          <a:prstGeom prst="roundRect">
            <a:avLst/>
          </a:prstGeom>
          <a:solidFill>
            <a:srgbClr val="E5F7E7"/>
          </a:solidFill>
          <a:ln w="17780">
            <a:solidFill>
              <a:srgbClr val="66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7" name="Rounded Rectangle 6">
            <a:extLst>
              <a:ext uri="{FF2B5EF4-FFF2-40B4-BE49-F238E27FC236}">
                <a16:creationId xmlns:a16="http://schemas.microsoft.com/office/drawing/2014/main" id="{0EF3ECD8-1E25-D616-9280-435A33FC44CE}"/>
              </a:ext>
            </a:extLst>
          </p:cNvPr>
          <p:cNvSpPr/>
          <p:nvPr/>
        </p:nvSpPr>
        <p:spPr>
          <a:xfrm>
            <a:off x="3846576" y="5468112"/>
            <a:ext cx="3474720" cy="749808"/>
          </a:xfrm>
          <a:prstGeom prst="roundRect">
            <a:avLst/>
          </a:prstGeom>
          <a:solidFill>
            <a:srgbClr val="FFF6DC"/>
          </a:solidFill>
          <a:ln w="16510">
            <a:solidFill>
              <a:srgbClr val="EBB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8" name="Rounded Rectangle 7">
            <a:extLst>
              <a:ext uri="{FF2B5EF4-FFF2-40B4-BE49-F238E27FC236}">
                <a16:creationId xmlns:a16="http://schemas.microsoft.com/office/drawing/2014/main" id="{4F33FED8-4248-DA46-997E-8DC23BBEC5E2}"/>
              </a:ext>
            </a:extLst>
          </p:cNvPr>
          <p:cNvSpPr/>
          <p:nvPr/>
        </p:nvSpPr>
        <p:spPr>
          <a:xfrm>
            <a:off x="3938016" y="6318504"/>
            <a:ext cx="3291840" cy="347472"/>
          </a:xfrm>
          <a:prstGeom prst="roundRect">
            <a:avLst/>
          </a:prstGeom>
          <a:solidFill>
            <a:srgbClr val="F3EBFF"/>
          </a:solidFill>
          <a:ln w="13970">
            <a:solidFill>
              <a:srgbClr val="9B7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9" name="TextBox 8">
            <a:extLst>
              <a:ext uri="{FF2B5EF4-FFF2-40B4-BE49-F238E27FC236}">
                <a16:creationId xmlns:a16="http://schemas.microsoft.com/office/drawing/2014/main" id="{59C4A693-4F91-0F3E-7493-EFCEF75A6B47}"/>
              </a:ext>
            </a:extLst>
          </p:cNvPr>
          <p:cNvSpPr txBox="1"/>
          <p:nvPr/>
        </p:nvSpPr>
        <p:spPr>
          <a:xfrm>
            <a:off x="445008" y="1042416"/>
            <a:ext cx="2651760" cy="320040"/>
          </a:xfrm>
          <a:prstGeom prst="rect">
            <a:avLst/>
          </a:prstGeom>
          <a:noFill/>
        </p:spPr>
        <p:txBody>
          <a:bodyPr wrap="none" lIns="73152" tIns="22860" rIns="73152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122D4E"/>
                </a:solidFill>
                <a:latin typeface="Aptos"/>
              </a:defRPr>
            </a:pPr>
            <a:r>
              <a:rPr dirty="0"/>
              <a:t>INPUT: SENSORS</a:t>
            </a:r>
          </a:p>
        </p:txBody>
      </p:sp>
      <p:sp>
        <p:nvSpPr>
          <p:cNvPr id="130" name="TextBox 9">
            <a:extLst>
              <a:ext uri="{FF2B5EF4-FFF2-40B4-BE49-F238E27FC236}">
                <a16:creationId xmlns:a16="http://schemas.microsoft.com/office/drawing/2014/main" id="{586D9F1A-0AD3-5CD6-3E10-97FD1BC85687}"/>
              </a:ext>
            </a:extLst>
          </p:cNvPr>
          <p:cNvSpPr txBox="1"/>
          <p:nvPr/>
        </p:nvSpPr>
        <p:spPr>
          <a:xfrm>
            <a:off x="3919728" y="1444752"/>
            <a:ext cx="3337560" cy="320040"/>
          </a:xfrm>
          <a:prstGeom prst="rect">
            <a:avLst/>
          </a:prstGeom>
          <a:noFill/>
        </p:spPr>
        <p:txBody>
          <a:bodyPr wrap="none" lIns="73152" tIns="22860" rIns="73152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700" b="1">
                <a:solidFill>
                  <a:srgbClr val="CE2A2A"/>
                </a:solidFill>
                <a:latin typeface="Aptos"/>
              </a:defRPr>
            </a:pPr>
            <a:r>
              <a:t>PROCESSING UNIT</a:t>
            </a:r>
          </a:p>
        </p:txBody>
      </p:sp>
      <p:sp>
        <p:nvSpPr>
          <p:cNvPr id="131" name="TextBox 10">
            <a:extLst>
              <a:ext uri="{FF2B5EF4-FFF2-40B4-BE49-F238E27FC236}">
                <a16:creationId xmlns:a16="http://schemas.microsoft.com/office/drawing/2014/main" id="{F69C9ADE-4704-DC7E-DE31-418BE6F4B222}"/>
              </a:ext>
            </a:extLst>
          </p:cNvPr>
          <p:cNvSpPr txBox="1"/>
          <p:nvPr/>
        </p:nvSpPr>
        <p:spPr>
          <a:xfrm>
            <a:off x="8144256" y="1042416"/>
            <a:ext cx="3566160" cy="320040"/>
          </a:xfrm>
          <a:prstGeom prst="rect">
            <a:avLst/>
          </a:prstGeom>
          <a:noFill/>
        </p:spPr>
        <p:txBody>
          <a:bodyPr wrap="none" lIns="73152" tIns="22860" rIns="73152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125932"/>
                </a:solidFill>
                <a:latin typeface="Aptos"/>
              </a:defRPr>
            </a:pPr>
            <a:r>
              <a:t>OUTPUT: ACTIONS &amp; ALERTS</a:t>
            </a:r>
          </a:p>
        </p:txBody>
      </p:sp>
      <p:sp>
        <p:nvSpPr>
          <p:cNvPr id="132" name="Rounded Rectangle 11">
            <a:extLst>
              <a:ext uri="{FF2B5EF4-FFF2-40B4-BE49-F238E27FC236}">
                <a16:creationId xmlns:a16="http://schemas.microsoft.com/office/drawing/2014/main" id="{1F6E8806-3ED6-F4B9-B76B-46F6D39B2B0A}"/>
              </a:ext>
            </a:extLst>
          </p:cNvPr>
          <p:cNvSpPr/>
          <p:nvPr/>
        </p:nvSpPr>
        <p:spPr>
          <a:xfrm>
            <a:off x="509016" y="1508760"/>
            <a:ext cx="2514600" cy="658368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B1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3" name="TextBox 12">
            <a:extLst>
              <a:ext uri="{FF2B5EF4-FFF2-40B4-BE49-F238E27FC236}">
                <a16:creationId xmlns:a16="http://schemas.microsoft.com/office/drawing/2014/main" id="{087AA07D-A208-E2C7-B8DA-FE25A5AE7636}"/>
              </a:ext>
            </a:extLst>
          </p:cNvPr>
          <p:cNvSpPr txBox="1"/>
          <p:nvPr/>
        </p:nvSpPr>
        <p:spPr>
          <a:xfrm>
            <a:off x="600456" y="1581912"/>
            <a:ext cx="365760" cy="411480"/>
          </a:xfrm>
          <a:prstGeom prst="rect">
            <a:avLst/>
          </a:prstGeom>
          <a:noFill/>
        </p:spPr>
        <p:txBody>
          <a:bodyPr wrap="none" lIns="0" tIns="22860" rIns="0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800" b="1">
                <a:solidFill>
                  <a:srgbClr val="122D4E"/>
                </a:solidFill>
                <a:latin typeface="Aptos"/>
              </a:defRPr>
            </a:pPr>
            <a:r>
              <a:t>🔥</a:t>
            </a:r>
          </a:p>
        </p:txBody>
      </p:sp>
      <p:sp>
        <p:nvSpPr>
          <p:cNvPr id="134" name="TextBox 13">
            <a:extLst>
              <a:ext uri="{FF2B5EF4-FFF2-40B4-BE49-F238E27FC236}">
                <a16:creationId xmlns:a16="http://schemas.microsoft.com/office/drawing/2014/main" id="{9478D392-DFDC-4858-B9AB-6F132FB854AA}"/>
              </a:ext>
            </a:extLst>
          </p:cNvPr>
          <p:cNvSpPr txBox="1"/>
          <p:nvPr/>
        </p:nvSpPr>
        <p:spPr>
          <a:xfrm>
            <a:off x="993648" y="1581912"/>
            <a:ext cx="1920240" cy="24688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22D4E"/>
                </a:solidFill>
                <a:latin typeface="Aptos"/>
              </a:defRPr>
            </a:pPr>
            <a:r>
              <a:t>Flame sensor</a:t>
            </a:r>
          </a:p>
        </p:txBody>
      </p:sp>
      <p:sp>
        <p:nvSpPr>
          <p:cNvPr id="135" name="TextBox 14">
            <a:extLst>
              <a:ext uri="{FF2B5EF4-FFF2-40B4-BE49-F238E27FC236}">
                <a16:creationId xmlns:a16="http://schemas.microsoft.com/office/drawing/2014/main" id="{7CCB2287-992D-FB1D-DC2A-8E22810028A4}"/>
              </a:ext>
            </a:extLst>
          </p:cNvPr>
          <p:cNvSpPr txBox="1"/>
          <p:nvPr/>
        </p:nvSpPr>
        <p:spPr>
          <a:xfrm>
            <a:off x="993648" y="1828800"/>
            <a:ext cx="1920240" cy="21031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5A6876"/>
                </a:solidFill>
                <a:latin typeface="Aptos"/>
              </a:defRPr>
            </a:pPr>
            <a:r>
              <a:t>Fire detection</a:t>
            </a:r>
          </a:p>
        </p:txBody>
      </p:sp>
      <p:sp>
        <p:nvSpPr>
          <p:cNvPr id="136" name="Rounded Rectangle 15">
            <a:extLst>
              <a:ext uri="{FF2B5EF4-FFF2-40B4-BE49-F238E27FC236}">
                <a16:creationId xmlns:a16="http://schemas.microsoft.com/office/drawing/2014/main" id="{21D4837C-4CB8-470F-A53D-6618B1CCF47A}"/>
              </a:ext>
            </a:extLst>
          </p:cNvPr>
          <p:cNvSpPr/>
          <p:nvPr/>
        </p:nvSpPr>
        <p:spPr>
          <a:xfrm>
            <a:off x="509016" y="2313432"/>
            <a:ext cx="2514600" cy="658368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B1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7" name="TextBox 16">
            <a:extLst>
              <a:ext uri="{FF2B5EF4-FFF2-40B4-BE49-F238E27FC236}">
                <a16:creationId xmlns:a16="http://schemas.microsoft.com/office/drawing/2014/main" id="{688FED07-709C-902F-DE5A-9F7982C29D6E}"/>
              </a:ext>
            </a:extLst>
          </p:cNvPr>
          <p:cNvSpPr txBox="1"/>
          <p:nvPr/>
        </p:nvSpPr>
        <p:spPr>
          <a:xfrm>
            <a:off x="600456" y="2386584"/>
            <a:ext cx="365760" cy="411480"/>
          </a:xfrm>
          <a:prstGeom prst="rect">
            <a:avLst/>
          </a:prstGeom>
          <a:noFill/>
        </p:spPr>
        <p:txBody>
          <a:bodyPr wrap="none" lIns="0" tIns="22860" rIns="0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800" b="1">
                <a:solidFill>
                  <a:srgbClr val="122D4E"/>
                </a:solidFill>
                <a:latin typeface="Aptos"/>
              </a:defRPr>
            </a:pPr>
            <a:r>
              <a:t>☁</a:t>
            </a:r>
          </a:p>
        </p:txBody>
      </p:sp>
      <p:sp>
        <p:nvSpPr>
          <p:cNvPr id="138" name="TextBox 17">
            <a:extLst>
              <a:ext uri="{FF2B5EF4-FFF2-40B4-BE49-F238E27FC236}">
                <a16:creationId xmlns:a16="http://schemas.microsoft.com/office/drawing/2014/main" id="{4862660F-2C14-AF54-BDB6-1DE933C19D2C}"/>
              </a:ext>
            </a:extLst>
          </p:cNvPr>
          <p:cNvSpPr txBox="1"/>
          <p:nvPr/>
        </p:nvSpPr>
        <p:spPr>
          <a:xfrm>
            <a:off x="993648" y="2386584"/>
            <a:ext cx="1920240" cy="24688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22D4E"/>
                </a:solidFill>
                <a:latin typeface="Aptos"/>
              </a:defRPr>
            </a:pPr>
            <a:r>
              <a:t>MQ-5 smoke/gas</a:t>
            </a:r>
          </a:p>
        </p:txBody>
      </p:sp>
      <p:sp>
        <p:nvSpPr>
          <p:cNvPr id="139" name="TextBox 18">
            <a:extLst>
              <a:ext uri="{FF2B5EF4-FFF2-40B4-BE49-F238E27FC236}">
                <a16:creationId xmlns:a16="http://schemas.microsoft.com/office/drawing/2014/main" id="{34F4B1E6-E17F-C7F6-5C8D-ED0C725E3C83}"/>
              </a:ext>
            </a:extLst>
          </p:cNvPr>
          <p:cNvSpPr txBox="1"/>
          <p:nvPr/>
        </p:nvSpPr>
        <p:spPr>
          <a:xfrm>
            <a:off x="993648" y="2633472"/>
            <a:ext cx="1920240" cy="21031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5A6876"/>
                </a:solidFill>
                <a:latin typeface="Aptos"/>
              </a:defRPr>
            </a:pPr>
            <a:r>
              <a:t>Smoke / gas detection</a:t>
            </a:r>
          </a:p>
        </p:txBody>
      </p:sp>
      <p:sp>
        <p:nvSpPr>
          <p:cNvPr id="140" name="Rounded Rectangle 19">
            <a:extLst>
              <a:ext uri="{FF2B5EF4-FFF2-40B4-BE49-F238E27FC236}">
                <a16:creationId xmlns:a16="http://schemas.microsoft.com/office/drawing/2014/main" id="{3F28B4D8-A109-C4C4-41F0-0B11859C4A3F}"/>
              </a:ext>
            </a:extLst>
          </p:cNvPr>
          <p:cNvSpPr/>
          <p:nvPr/>
        </p:nvSpPr>
        <p:spPr>
          <a:xfrm>
            <a:off x="509016" y="3118104"/>
            <a:ext cx="2514600" cy="658368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B1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1" name="TextBox 20">
            <a:extLst>
              <a:ext uri="{FF2B5EF4-FFF2-40B4-BE49-F238E27FC236}">
                <a16:creationId xmlns:a16="http://schemas.microsoft.com/office/drawing/2014/main" id="{68693B17-8279-517B-F7C2-17DE923545CC}"/>
              </a:ext>
            </a:extLst>
          </p:cNvPr>
          <p:cNvSpPr txBox="1"/>
          <p:nvPr/>
        </p:nvSpPr>
        <p:spPr>
          <a:xfrm>
            <a:off x="600456" y="3191256"/>
            <a:ext cx="365760" cy="411480"/>
          </a:xfrm>
          <a:prstGeom prst="rect">
            <a:avLst/>
          </a:prstGeom>
          <a:noFill/>
        </p:spPr>
        <p:txBody>
          <a:bodyPr wrap="none" lIns="0" tIns="22860" rIns="0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800" b="1">
                <a:solidFill>
                  <a:srgbClr val="122D4E"/>
                </a:solidFill>
                <a:latin typeface="Aptos"/>
              </a:defRPr>
            </a:pPr>
            <a:r>
              <a:t>🌡</a:t>
            </a:r>
          </a:p>
        </p:txBody>
      </p:sp>
      <p:sp>
        <p:nvSpPr>
          <p:cNvPr id="142" name="TextBox 21">
            <a:extLst>
              <a:ext uri="{FF2B5EF4-FFF2-40B4-BE49-F238E27FC236}">
                <a16:creationId xmlns:a16="http://schemas.microsoft.com/office/drawing/2014/main" id="{5C2F92C8-BCEF-B971-98EA-4F1123570C51}"/>
              </a:ext>
            </a:extLst>
          </p:cNvPr>
          <p:cNvSpPr txBox="1"/>
          <p:nvPr/>
        </p:nvSpPr>
        <p:spPr>
          <a:xfrm>
            <a:off x="993648" y="3191256"/>
            <a:ext cx="1920240" cy="24688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22D4E"/>
                </a:solidFill>
                <a:latin typeface="Aptos"/>
              </a:defRPr>
            </a:pPr>
            <a:r>
              <a:t>DS18B20</a:t>
            </a:r>
          </a:p>
        </p:txBody>
      </p:sp>
      <p:sp>
        <p:nvSpPr>
          <p:cNvPr id="143" name="TextBox 22">
            <a:extLst>
              <a:ext uri="{FF2B5EF4-FFF2-40B4-BE49-F238E27FC236}">
                <a16:creationId xmlns:a16="http://schemas.microsoft.com/office/drawing/2014/main" id="{FF64FB64-4841-01F9-4AD8-38163C31E5F2}"/>
              </a:ext>
            </a:extLst>
          </p:cNvPr>
          <p:cNvSpPr txBox="1"/>
          <p:nvPr/>
        </p:nvSpPr>
        <p:spPr>
          <a:xfrm>
            <a:off x="993648" y="3438144"/>
            <a:ext cx="1920240" cy="21031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5A6876"/>
                </a:solidFill>
                <a:latin typeface="Aptos"/>
              </a:defRPr>
            </a:pPr>
            <a:r>
              <a:t>Battery temperature</a:t>
            </a:r>
          </a:p>
        </p:txBody>
      </p:sp>
      <p:sp>
        <p:nvSpPr>
          <p:cNvPr id="144" name="Rounded Rectangle 23">
            <a:extLst>
              <a:ext uri="{FF2B5EF4-FFF2-40B4-BE49-F238E27FC236}">
                <a16:creationId xmlns:a16="http://schemas.microsoft.com/office/drawing/2014/main" id="{EE79B484-75CB-22FB-E411-6201966D1586}"/>
              </a:ext>
            </a:extLst>
          </p:cNvPr>
          <p:cNvSpPr/>
          <p:nvPr/>
        </p:nvSpPr>
        <p:spPr>
          <a:xfrm>
            <a:off x="509016" y="3922776"/>
            <a:ext cx="2514600" cy="658368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B1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5" name="TextBox 24">
            <a:extLst>
              <a:ext uri="{FF2B5EF4-FFF2-40B4-BE49-F238E27FC236}">
                <a16:creationId xmlns:a16="http://schemas.microsoft.com/office/drawing/2014/main" id="{D8B0D314-1299-E0DB-AB62-6A40CE4E8B2C}"/>
              </a:ext>
            </a:extLst>
          </p:cNvPr>
          <p:cNvSpPr txBox="1"/>
          <p:nvPr/>
        </p:nvSpPr>
        <p:spPr>
          <a:xfrm>
            <a:off x="600456" y="3995928"/>
            <a:ext cx="365760" cy="411480"/>
          </a:xfrm>
          <a:prstGeom prst="rect">
            <a:avLst/>
          </a:prstGeom>
          <a:noFill/>
        </p:spPr>
        <p:txBody>
          <a:bodyPr wrap="none" lIns="0" tIns="22860" rIns="0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800" b="1">
                <a:solidFill>
                  <a:srgbClr val="122D4E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146" name="TextBox 25">
            <a:extLst>
              <a:ext uri="{FF2B5EF4-FFF2-40B4-BE49-F238E27FC236}">
                <a16:creationId xmlns:a16="http://schemas.microsoft.com/office/drawing/2014/main" id="{045111F7-9E30-1C6C-12F9-5DA2EAB754B6}"/>
              </a:ext>
            </a:extLst>
          </p:cNvPr>
          <p:cNvSpPr txBox="1"/>
          <p:nvPr/>
        </p:nvSpPr>
        <p:spPr>
          <a:xfrm>
            <a:off x="993648" y="3995928"/>
            <a:ext cx="1920240" cy="24688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22D4E"/>
                </a:solidFill>
                <a:latin typeface="Aptos"/>
              </a:defRPr>
            </a:pPr>
            <a:r>
              <a:t>Voltage divider</a:t>
            </a:r>
          </a:p>
        </p:txBody>
      </p:sp>
      <p:sp>
        <p:nvSpPr>
          <p:cNvPr id="147" name="TextBox 26">
            <a:extLst>
              <a:ext uri="{FF2B5EF4-FFF2-40B4-BE49-F238E27FC236}">
                <a16:creationId xmlns:a16="http://schemas.microsoft.com/office/drawing/2014/main" id="{68CEF7BD-1F6E-91B9-DF27-3C7C33A1495D}"/>
              </a:ext>
            </a:extLst>
          </p:cNvPr>
          <p:cNvSpPr txBox="1"/>
          <p:nvPr/>
        </p:nvSpPr>
        <p:spPr>
          <a:xfrm>
            <a:off x="993648" y="4242815"/>
            <a:ext cx="1920240" cy="21031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5A6876"/>
                </a:solidFill>
                <a:latin typeface="Aptos"/>
              </a:defRPr>
            </a:pPr>
            <a:r>
              <a:t>Battery voltage</a:t>
            </a:r>
          </a:p>
        </p:txBody>
      </p:sp>
      <p:sp>
        <p:nvSpPr>
          <p:cNvPr id="148" name="Rounded Rectangle 27">
            <a:extLst>
              <a:ext uri="{FF2B5EF4-FFF2-40B4-BE49-F238E27FC236}">
                <a16:creationId xmlns:a16="http://schemas.microsoft.com/office/drawing/2014/main" id="{0BC7FAC5-099E-E1CF-9326-3CC80ACFB316}"/>
              </a:ext>
            </a:extLst>
          </p:cNvPr>
          <p:cNvSpPr/>
          <p:nvPr/>
        </p:nvSpPr>
        <p:spPr>
          <a:xfrm>
            <a:off x="509016" y="4727448"/>
            <a:ext cx="2514600" cy="658368"/>
          </a:xfrm>
          <a:prstGeom prst="roundRect">
            <a:avLst/>
          </a:prstGeom>
          <a:solidFill>
            <a:srgbClr val="F5FAFF"/>
          </a:solidFill>
          <a:ln w="10160">
            <a:solidFill>
              <a:srgbClr val="B1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9" name="TextBox 28">
            <a:extLst>
              <a:ext uri="{FF2B5EF4-FFF2-40B4-BE49-F238E27FC236}">
                <a16:creationId xmlns:a16="http://schemas.microsoft.com/office/drawing/2014/main" id="{C22EC49B-817D-F3E3-34C2-A7033D25B0A1}"/>
              </a:ext>
            </a:extLst>
          </p:cNvPr>
          <p:cNvSpPr txBox="1"/>
          <p:nvPr/>
        </p:nvSpPr>
        <p:spPr>
          <a:xfrm>
            <a:off x="600456" y="4800600"/>
            <a:ext cx="365760" cy="411480"/>
          </a:xfrm>
          <a:prstGeom prst="rect">
            <a:avLst/>
          </a:prstGeom>
          <a:noFill/>
        </p:spPr>
        <p:txBody>
          <a:bodyPr wrap="none" lIns="0" tIns="22860" rIns="0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800" b="1">
                <a:solidFill>
                  <a:srgbClr val="122D4E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150" name="TextBox 29">
            <a:extLst>
              <a:ext uri="{FF2B5EF4-FFF2-40B4-BE49-F238E27FC236}">
                <a16:creationId xmlns:a16="http://schemas.microsoft.com/office/drawing/2014/main" id="{5876273E-2E02-9C79-6334-04EF35430175}"/>
              </a:ext>
            </a:extLst>
          </p:cNvPr>
          <p:cNvSpPr txBox="1"/>
          <p:nvPr/>
        </p:nvSpPr>
        <p:spPr>
          <a:xfrm>
            <a:off x="993648" y="4800600"/>
            <a:ext cx="1920240" cy="24688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22D4E"/>
                </a:solidFill>
                <a:latin typeface="Aptos"/>
              </a:defRPr>
            </a:pPr>
            <a:r>
              <a:t>ACS712 current</a:t>
            </a:r>
          </a:p>
        </p:txBody>
      </p:sp>
      <p:sp>
        <p:nvSpPr>
          <p:cNvPr id="151" name="TextBox 30">
            <a:extLst>
              <a:ext uri="{FF2B5EF4-FFF2-40B4-BE49-F238E27FC236}">
                <a16:creationId xmlns:a16="http://schemas.microsoft.com/office/drawing/2014/main" id="{1EC4DF0B-6E3D-5C2E-D7D4-4EF960257939}"/>
              </a:ext>
            </a:extLst>
          </p:cNvPr>
          <p:cNvSpPr txBox="1"/>
          <p:nvPr/>
        </p:nvSpPr>
        <p:spPr>
          <a:xfrm>
            <a:off x="993648" y="5047488"/>
            <a:ext cx="1920240" cy="21031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5A6876"/>
                </a:solidFill>
                <a:latin typeface="Aptos"/>
              </a:defRPr>
            </a:pPr>
            <a:r>
              <a:t>Current monitoring</a:t>
            </a:r>
          </a:p>
        </p:txBody>
      </p:sp>
      <p:sp>
        <p:nvSpPr>
          <p:cNvPr id="152" name="Rounded Rectangle 31">
            <a:extLst>
              <a:ext uri="{FF2B5EF4-FFF2-40B4-BE49-F238E27FC236}">
                <a16:creationId xmlns:a16="http://schemas.microsoft.com/office/drawing/2014/main" id="{8C2FA345-74D5-1BA8-1729-8C8C3D321B7F}"/>
              </a:ext>
            </a:extLst>
          </p:cNvPr>
          <p:cNvSpPr/>
          <p:nvPr/>
        </p:nvSpPr>
        <p:spPr>
          <a:xfrm>
            <a:off x="4322064" y="1901951"/>
            <a:ext cx="25420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3" name="TextBox 32">
            <a:extLst>
              <a:ext uri="{FF2B5EF4-FFF2-40B4-BE49-F238E27FC236}">
                <a16:creationId xmlns:a16="http://schemas.microsoft.com/office/drawing/2014/main" id="{C88E7BDE-5A30-23BB-2ABC-26D6E7FB9213}"/>
              </a:ext>
            </a:extLst>
          </p:cNvPr>
          <p:cNvSpPr txBox="1"/>
          <p:nvPr/>
        </p:nvSpPr>
        <p:spPr>
          <a:xfrm>
            <a:off x="4486656" y="2011680"/>
            <a:ext cx="2212848" cy="310896"/>
          </a:xfrm>
          <a:prstGeom prst="rect">
            <a:avLst/>
          </a:prstGeom>
          <a:noFill/>
        </p:spPr>
        <p:txBody>
          <a:bodyPr wrap="none" lIns="73152" tIns="22860" rIns="73152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300" b="1">
                <a:solidFill>
                  <a:srgbClr val="122D4E"/>
                </a:solidFill>
                <a:latin typeface="Aptos"/>
              </a:defRPr>
            </a:pPr>
            <a:r>
              <a:t>ESP32</a:t>
            </a:r>
          </a:p>
        </p:txBody>
      </p:sp>
      <p:sp>
        <p:nvSpPr>
          <p:cNvPr id="154" name="TextBox 33">
            <a:extLst>
              <a:ext uri="{FF2B5EF4-FFF2-40B4-BE49-F238E27FC236}">
                <a16:creationId xmlns:a16="http://schemas.microsoft.com/office/drawing/2014/main" id="{01D55FC3-8246-D666-DB83-C1FA9CA1F7A2}"/>
              </a:ext>
            </a:extLst>
          </p:cNvPr>
          <p:cNvSpPr txBox="1"/>
          <p:nvPr/>
        </p:nvSpPr>
        <p:spPr>
          <a:xfrm>
            <a:off x="4486656" y="2359152"/>
            <a:ext cx="2212848" cy="384048"/>
          </a:xfrm>
          <a:prstGeom prst="rect">
            <a:avLst/>
          </a:prstGeom>
          <a:noFill/>
        </p:spPr>
        <p:txBody>
          <a:bodyPr wrap="none" lIns="73152" tIns="22860" rIns="73152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0">
                <a:solidFill>
                  <a:srgbClr val="5A6876"/>
                </a:solidFill>
                <a:latin typeface="Aptos"/>
              </a:defRPr>
            </a:pPr>
            <a:r>
              <a:t>Sensor acquisition + local logic</a:t>
            </a:r>
          </a:p>
        </p:txBody>
      </p:sp>
      <p:sp>
        <p:nvSpPr>
          <p:cNvPr id="155" name="Rounded Rectangle 34">
            <a:extLst>
              <a:ext uri="{FF2B5EF4-FFF2-40B4-BE49-F238E27FC236}">
                <a16:creationId xmlns:a16="http://schemas.microsoft.com/office/drawing/2014/main" id="{E28E29B9-0425-F18E-93AD-36EF4211291F}"/>
              </a:ext>
            </a:extLst>
          </p:cNvPr>
          <p:cNvSpPr/>
          <p:nvPr/>
        </p:nvSpPr>
        <p:spPr>
          <a:xfrm>
            <a:off x="4230624" y="3300984"/>
            <a:ext cx="2724912" cy="1051560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EB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6" name="TextBox 35">
            <a:extLst>
              <a:ext uri="{FF2B5EF4-FFF2-40B4-BE49-F238E27FC236}">
                <a16:creationId xmlns:a16="http://schemas.microsoft.com/office/drawing/2014/main" id="{0F76CD38-66D6-D4A1-51E9-26C838A54D55}"/>
              </a:ext>
            </a:extLst>
          </p:cNvPr>
          <p:cNvSpPr txBox="1"/>
          <p:nvPr/>
        </p:nvSpPr>
        <p:spPr>
          <a:xfrm>
            <a:off x="4395216" y="3410712"/>
            <a:ext cx="2395728" cy="274320"/>
          </a:xfrm>
          <a:prstGeom prst="rect">
            <a:avLst/>
          </a:prstGeom>
          <a:noFill/>
        </p:spPr>
        <p:txBody>
          <a:bodyPr wrap="none" lIns="73152" tIns="22860" rIns="73152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CE2A2A"/>
                </a:solidFill>
                <a:latin typeface="Aptos"/>
              </a:defRPr>
            </a:pPr>
            <a:r>
              <a:rPr dirty="0" err="1"/>
              <a:t>TinyML</a:t>
            </a:r>
            <a:r>
              <a:rPr dirty="0"/>
              <a:t> fault detection</a:t>
            </a:r>
          </a:p>
        </p:txBody>
      </p:sp>
      <p:sp>
        <p:nvSpPr>
          <p:cNvPr id="157" name="TextBox 36">
            <a:extLst>
              <a:ext uri="{FF2B5EF4-FFF2-40B4-BE49-F238E27FC236}">
                <a16:creationId xmlns:a16="http://schemas.microsoft.com/office/drawing/2014/main" id="{67938792-A5D7-9D06-CF8C-3C4DA614ECC1}"/>
              </a:ext>
            </a:extLst>
          </p:cNvPr>
          <p:cNvSpPr txBox="1"/>
          <p:nvPr/>
        </p:nvSpPr>
        <p:spPr>
          <a:xfrm>
            <a:off x="4395216" y="3712464"/>
            <a:ext cx="2395728" cy="457200"/>
          </a:xfrm>
          <a:prstGeom prst="rect">
            <a:avLst/>
          </a:prstGeom>
          <a:noFill/>
        </p:spPr>
        <p:txBody>
          <a:bodyPr wrap="none" lIns="73152" tIns="22860" rIns="73152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0">
                <a:solidFill>
                  <a:srgbClr val="202D3A"/>
                </a:solidFill>
                <a:latin typeface="Aptos"/>
              </a:defRPr>
            </a:pPr>
            <a:r>
              <a:t>Normal / abnormal condition</a:t>
            </a:r>
            <a:br/>
            <a:r>
              <a:t>classification*</a:t>
            </a:r>
          </a:p>
        </p:txBody>
      </p:sp>
      <p:sp>
        <p:nvSpPr>
          <p:cNvPr id="158" name="TextBox 37">
            <a:extLst>
              <a:ext uri="{FF2B5EF4-FFF2-40B4-BE49-F238E27FC236}">
                <a16:creationId xmlns:a16="http://schemas.microsoft.com/office/drawing/2014/main" id="{C4A03D80-FE7E-8A71-1640-ED26D98628B7}"/>
              </a:ext>
            </a:extLst>
          </p:cNvPr>
          <p:cNvSpPr txBox="1"/>
          <p:nvPr/>
        </p:nvSpPr>
        <p:spPr>
          <a:xfrm>
            <a:off x="4075176" y="4553712"/>
            <a:ext cx="3017520" cy="438912"/>
          </a:xfrm>
          <a:prstGeom prst="rect">
            <a:avLst/>
          </a:prstGeom>
          <a:noFill/>
        </p:spPr>
        <p:txBody>
          <a:bodyPr wrap="none" lIns="73152" tIns="22860" rIns="73152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900" b="0">
                <a:solidFill>
                  <a:srgbClr val="5A6876"/>
                </a:solidFill>
                <a:latin typeface="Aptos"/>
              </a:defRPr>
            </a:pPr>
            <a:r>
              <a:t>*Include only if the model is running</a:t>
            </a:r>
            <a:br/>
            <a:r>
              <a:t>on the ESP32 in your demo.</a:t>
            </a:r>
          </a:p>
        </p:txBody>
      </p:sp>
      <p:sp>
        <p:nvSpPr>
          <p:cNvPr id="159" name="Rounded Rectangle 38">
            <a:extLst>
              <a:ext uri="{FF2B5EF4-FFF2-40B4-BE49-F238E27FC236}">
                <a16:creationId xmlns:a16="http://schemas.microsoft.com/office/drawing/2014/main" id="{0196F401-FA7D-CDAA-E80D-927D3CEA2F2C}"/>
              </a:ext>
            </a:extLst>
          </p:cNvPr>
          <p:cNvSpPr/>
          <p:nvPr/>
        </p:nvSpPr>
        <p:spPr>
          <a:xfrm>
            <a:off x="8171688" y="1508760"/>
            <a:ext cx="3493008" cy="658368"/>
          </a:xfrm>
          <a:prstGeom prst="roundRect">
            <a:avLst/>
          </a:prstGeom>
          <a:solidFill>
            <a:srgbClr val="F7FDF7"/>
          </a:solidFill>
          <a:ln w="10160">
            <a:solidFill>
              <a:srgbClr val="B9E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0" name="TextBox 39">
            <a:extLst>
              <a:ext uri="{FF2B5EF4-FFF2-40B4-BE49-F238E27FC236}">
                <a16:creationId xmlns:a16="http://schemas.microsoft.com/office/drawing/2014/main" id="{B001A885-8AAE-EDD7-B8FE-98C41C218E51}"/>
              </a:ext>
            </a:extLst>
          </p:cNvPr>
          <p:cNvSpPr txBox="1"/>
          <p:nvPr/>
        </p:nvSpPr>
        <p:spPr>
          <a:xfrm>
            <a:off x="8345423" y="1572768"/>
            <a:ext cx="1115568" cy="25603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25932"/>
                </a:solidFill>
                <a:latin typeface="Aptos"/>
              </a:defRPr>
            </a:pPr>
            <a:r>
              <a:t>LCD</a:t>
            </a:r>
          </a:p>
        </p:txBody>
      </p:sp>
      <p:sp>
        <p:nvSpPr>
          <p:cNvPr id="161" name="TextBox 40">
            <a:extLst>
              <a:ext uri="{FF2B5EF4-FFF2-40B4-BE49-F238E27FC236}">
                <a16:creationId xmlns:a16="http://schemas.microsoft.com/office/drawing/2014/main" id="{5368CC50-510F-1315-D784-FF48E691D4A1}"/>
              </a:ext>
            </a:extLst>
          </p:cNvPr>
          <p:cNvSpPr txBox="1"/>
          <p:nvPr/>
        </p:nvSpPr>
        <p:spPr>
          <a:xfrm>
            <a:off x="9470136" y="1572768"/>
            <a:ext cx="2057400" cy="50292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202D3A"/>
                </a:solidFill>
                <a:latin typeface="Aptos"/>
              </a:defRPr>
            </a:pPr>
            <a:r>
              <a:t>Live parameters &amp; fault status</a:t>
            </a:r>
          </a:p>
        </p:txBody>
      </p:sp>
      <p:sp>
        <p:nvSpPr>
          <p:cNvPr id="162" name="Rounded Rectangle 41">
            <a:extLst>
              <a:ext uri="{FF2B5EF4-FFF2-40B4-BE49-F238E27FC236}">
                <a16:creationId xmlns:a16="http://schemas.microsoft.com/office/drawing/2014/main" id="{9AB2C747-5AD7-0D17-6DD2-7C1EEF83DBE3}"/>
              </a:ext>
            </a:extLst>
          </p:cNvPr>
          <p:cNvSpPr/>
          <p:nvPr/>
        </p:nvSpPr>
        <p:spPr>
          <a:xfrm>
            <a:off x="8171688" y="2313432"/>
            <a:ext cx="3493008" cy="658368"/>
          </a:xfrm>
          <a:prstGeom prst="roundRect">
            <a:avLst/>
          </a:prstGeom>
          <a:solidFill>
            <a:srgbClr val="F7FDF7"/>
          </a:solidFill>
          <a:ln w="10160">
            <a:solidFill>
              <a:srgbClr val="B9E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3" name="TextBox 42">
            <a:extLst>
              <a:ext uri="{FF2B5EF4-FFF2-40B4-BE49-F238E27FC236}">
                <a16:creationId xmlns:a16="http://schemas.microsoft.com/office/drawing/2014/main" id="{E54E6393-7568-84A2-7FA5-2E5B375F9515}"/>
              </a:ext>
            </a:extLst>
          </p:cNvPr>
          <p:cNvSpPr txBox="1"/>
          <p:nvPr/>
        </p:nvSpPr>
        <p:spPr>
          <a:xfrm>
            <a:off x="8345423" y="2377440"/>
            <a:ext cx="1115568" cy="25603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25932"/>
                </a:solidFill>
                <a:latin typeface="Aptos"/>
              </a:defRPr>
            </a:pPr>
            <a:r>
              <a:t>Buzzer</a:t>
            </a:r>
          </a:p>
        </p:txBody>
      </p:sp>
      <p:sp>
        <p:nvSpPr>
          <p:cNvPr id="164" name="TextBox 43">
            <a:extLst>
              <a:ext uri="{FF2B5EF4-FFF2-40B4-BE49-F238E27FC236}">
                <a16:creationId xmlns:a16="http://schemas.microsoft.com/office/drawing/2014/main" id="{302BBA40-BE70-6949-7124-75757783E3D6}"/>
              </a:ext>
            </a:extLst>
          </p:cNvPr>
          <p:cNvSpPr txBox="1"/>
          <p:nvPr/>
        </p:nvSpPr>
        <p:spPr>
          <a:xfrm>
            <a:off x="9470136" y="2377440"/>
            <a:ext cx="2057400" cy="50292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202D3A"/>
                </a:solidFill>
                <a:latin typeface="Aptos"/>
              </a:defRPr>
            </a:pPr>
            <a:r>
              <a:t>Local audible alert — planned</a:t>
            </a:r>
          </a:p>
        </p:txBody>
      </p:sp>
      <p:sp>
        <p:nvSpPr>
          <p:cNvPr id="165" name="Rounded Rectangle 44">
            <a:extLst>
              <a:ext uri="{FF2B5EF4-FFF2-40B4-BE49-F238E27FC236}">
                <a16:creationId xmlns:a16="http://schemas.microsoft.com/office/drawing/2014/main" id="{95357FBF-9213-83F7-987C-0C1959745D32}"/>
              </a:ext>
            </a:extLst>
          </p:cNvPr>
          <p:cNvSpPr/>
          <p:nvPr/>
        </p:nvSpPr>
        <p:spPr>
          <a:xfrm>
            <a:off x="8171688" y="3118104"/>
            <a:ext cx="3493008" cy="658368"/>
          </a:xfrm>
          <a:prstGeom prst="roundRect">
            <a:avLst/>
          </a:prstGeom>
          <a:solidFill>
            <a:srgbClr val="F7FDF7"/>
          </a:solidFill>
          <a:ln w="10160">
            <a:solidFill>
              <a:srgbClr val="B9E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6" name="TextBox 45">
            <a:extLst>
              <a:ext uri="{FF2B5EF4-FFF2-40B4-BE49-F238E27FC236}">
                <a16:creationId xmlns:a16="http://schemas.microsoft.com/office/drawing/2014/main" id="{A9D8376B-4346-C7E1-FCEF-5B46CD45BEBE}"/>
              </a:ext>
            </a:extLst>
          </p:cNvPr>
          <p:cNvSpPr txBox="1"/>
          <p:nvPr/>
        </p:nvSpPr>
        <p:spPr>
          <a:xfrm>
            <a:off x="8345423" y="3182111"/>
            <a:ext cx="1115568" cy="25603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25932"/>
                </a:solidFill>
                <a:latin typeface="Aptos"/>
              </a:defRPr>
            </a:pPr>
            <a:r>
              <a:t>Cooling fan</a:t>
            </a:r>
          </a:p>
        </p:txBody>
      </p:sp>
      <p:sp>
        <p:nvSpPr>
          <p:cNvPr id="167" name="TextBox 46">
            <a:extLst>
              <a:ext uri="{FF2B5EF4-FFF2-40B4-BE49-F238E27FC236}">
                <a16:creationId xmlns:a16="http://schemas.microsoft.com/office/drawing/2014/main" id="{69FB374C-5D29-A3B6-981C-EC892377F0FD}"/>
              </a:ext>
            </a:extLst>
          </p:cNvPr>
          <p:cNvSpPr txBox="1"/>
          <p:nvPr/>
        </p:nvSpPr>
        <p:spPr>
          <a:xfrm>
            <a:off x="9470136" y="3182111"/>
            <a:ext cx="2057400" cy="50292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202D3A"/>
                </a:solidFill>
                <a:latin typeface="Aptos"/>
              </a:defRPr>
            </a:pPr>
            <a:r>
              <a:t>Turns on at high temperature</a:t>
            </a:r>
          </a:p>
        </p:txBody>
      </p:sp>
      <p:sp>
        <p:nvSpPr>
          <p:cNvPr id="168" name="Rounded Rectangle 47">
            <a:extLst>
              <a:ext uri="{FF2B5EF4-FFF2-40B4-BE49-F238E27FC236}">
                <a16:creationId xmlns:a16="http://schemas.microsoft.com/office/drawing/2014/main" id="{FDAAADA1-316C-FBD4-FE45-8DD998EF0DBE}"/>
              </a:ext>
            </a:extLst>
          </p:cNvPr>
          <p:cNvSpPr/>
          <p:nvPr/>
        </p:nvSpPr>
        <p:spPr>
          <a:xfrm>
            <a:off x="8171688" y="3922776"/>
            <a:ext cx="3493008" cy="658368"/>
          </a:xfrm>
          <a:prstGeom prst="roundRect">
            <a:avLst/>
          </a:prstGeom>
          <a:solidFill>
            <a:srgbClr val="F7FDF7"/>
          </a:solidFill>
          <a:ln w="10160">
            <a:solidFill>
              <a:srgbClr val="B9E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9" name="TextBox 48">
            <a:extLst>
              <a:ext uri="{FF2B5EF4-FFF2-40B4-BE49-F238E27FC236}">
                <a16:creationId xmlns:a16="http://schemas.microsoft.com/office/drawing/2014/main" id="{B0D63C06-4FE9-4770-1B4D-AF11892C5163}"/>
              </a:ext>
            </a:extLst>
          </p:cNvPr>
          <p:cNvSpPr txBox="1"/>
          <p:nvPr/>
        </p:nvSpPr>
        <p:spPr>
          <a:xfrm>
            <a:off x="8345423" y="3986784"/>
            <a:ext cx="1115568" cy="25603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25932"/>
                </a:solidFill>
                <a:latin typeface="Aptos"/>
              </a:defRPr>
            </a:pPr>
            <a:r>
              <a:t>SIM800 GSM</a:t>
            </a:r>
          </a:p>
        </p:txBody>
      </p:sp>
      <p:sp>
        <p:nvSpPr>
          <p:cNvPr id="170" name="TextBox 49">
            <a:extLst>
              <a:ext uri="{FF2B5EF4-FFF2-40B4-BE49-F238E27FC236}">
                <a16:creationId xmlns:a16="http://schemas.microsoft.com/office/drawing/2014/main" id="{445B4A65-2306-0660-2446-006D9F9B92A8}"/>
              </a:ext>
            </a:extLst>
          </p:cNvPr>
          <p:cNvSpPr txBox="1"/>
          <p:nvPr/>
        </p:nvSpPr>
        <p:spPr>
          <a:xfrm>
            <a:off x="9470136" y="3986784"/>
            <a:ext cx="2057400" cy="50292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202D3A"/>
                </a:solidFill>
                <a:latin typeface="Aptos"/>
              </a:defRPr>
            </a:pPr>
            <a:r>
              <a:t>SMS fault notification</a:t>
            </a:r>
          </a:p>
        </p:txBody>
      </p:sp>
      <p:sp>
        <p:nvSpPr>
          <p:cNvPr id="171" name="Rounded Rectangle 50">
            <a:extLst>
              <a:ext uri="{FF2B5EF4-FFF2-40B4-BE49-F238E27FC236}">
                <a16:creationId xmlns:a16="http://schemas.microsoft.com/office/drawing/2014/main" id="{72C98F8E-1198-6D54-B2E8-FF718E516C8A}"/>
              </a:ext>
            </a:extLst>
          </p:cNvPr>
          <p:cNvSpPr/>
          <p:nvPr/>
        </p:nvSpPr>
        <p:spPr>
          <a:xfrm>
            <a:off x="8171688" y="4727448"/>
            <a:ext cx="3493008" cy="658368"/>
          </a:xfrm>
          <a:prstGeom prst="roundRect">
            <a:avLst/>
          </a:prstGeom>
          <a:solidFill>
            <a:srgbClr val="F7FDF7"/>
          </a:solidFill>
          <a:ln w="10160">
            <a:solidFill>
              <a:srgbClr val="B9E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2" name="TextBox 51">
            <a:extLst>
              <a:ext uri="{FF2B5EF4-FFF2-40B4-BE49-F238E27FC236}">
                <a16:creationId xmlns:a16="http://schemas.microsoft.com/office/drawing/2014/main" id="{1B36B6EC-73DC-CBE9-D29C-D29D332ACC1B}"/>
              </a:ext>
            </a:extLst>
          </p:cNvPr>
          <p:cNvSpPr txBox="1"/>
          <p:nvPr/>
        </p:nvSpPr>
        <p:spPr>
          <a:xfrm>
            <a:off x="8345423" y="4791456"/>
            <a:ext cx="1115568" cy="25603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25932"/>
                </a:solidFill>
                <a:latin typeface="Aptos"/>
              </a:defRPr>
            </a:pPr>
            <a:r>
              <a:t>ThingSpeak</a:t>
            </a:r>
          </a:p>
        </p:txBody>
      </p:sp>
      <p:sp>
        <p:nvSpPr>
          <p:cNvPr id="173" name="TextBox 52">
            <a:extLst>
              <a:ext uri="{FF2B5EF4-FFF2-40B4-BE49-F238E27FC236}">
                <a16:creationId xmlns:a16="http://schemas.microsoft.com/office/drawing/2014/main" id="{8552870A-F488-2E96-30D4-F63F79C10E8F}"/>
              </a:ext>
            </a:extLst>
          </p:cNvPr>
          <p:cNvSpPr txBox="1"/>
          <p:nvPr/>
        </p:nvSpPr>
        <p:spPr>
          <a:xfrm>
            <a:off x="9470136" y="4791456"/>
            <a:ext cx="2057400" cy="50292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202D3A"/>
                </a:solidFill>
                <a:latin typeface="Aptos"/>
              </a:defRPr>
            </a:pPr>
            <a:r>
              <a:t>Wi-Fi / IoT live monitoring</a:t>
            </a:r>
          </a:p>
        </p:txBody>
      </p:sp>
      <p:cxnSp>
        <p:nvCxnSpPr>
          <p:cNvPr id="174" name="Connector 53">
            <a:extLst>
              <a:ext uri="{FF2B5EF4-FFF2-40B4-BE49-F238E27FC236}">
                <a16:creationId xmlns:a16="http://schemas.microsoft.com/office/drawing/2014/main" id="{24C1BFD2-6E7A-AC47-B03B-1057BC9B5FCC}"/>
              </a:ext>
            </a:extLst>
          </p:cNvPr>
          <p:cNvCxnSpPr/>
          <p:nvPr/>
        </p:nvCxnSpPr>
        <p:spPr>
          <a:xfrm>
            <a:off x="3206496" y="3364992"/>
            <a:ext cx="475487" cy="0"/>
          </a:xfrm>
          <a:prstGeom prst="line">
            <a:avLst/>
          </a:prstGeom>
          <a:ln w="20320">
            <a:solidFill>
              <a:srgbClr val="12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54">
            <a:extLst>
              <a:ext uri="{FF2B5EF4-FFF2-40B4-BE49-F238E27FC236}">
                <a16:creationId xmlns:a16="http://schemas.microsoft.com/office/drawing/2014/main" id="{352DBCB4-EA8D-9441-D27B-3AED7215FFDA}"/>
              </a:ext>
            </a:extLst>
          </p:cNvPr>
          <p:cNvCxnSpPr/>
          <p:nvPr/>
        </p:nvCxnSpPr>
        <p:spPr>
          <a:xfrm>
            <a:off x="7458456" y="3364992"/>
            <a:ext cx="484632" cy="0"/>
          </a:xfrm>
          <a:prstGeom prst="line">
            <a:avLst/>
          </a:prstGeom>
          <a:ln w="20320">
            <a:solidFill>
              <a:srgbClr val="12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55">
            <a:extLst>
              <a:ext uri="{FF2B5EF4-FFF2-40B4-BE49-F238E27FC236}">
                <a16:creationId xmlns:a16="http://schemas.microsoft.com/office/drawing/2014/main" id="{AF360EB8-7C38-93EA-7524-01550FDCCD89}"/>
              </a:ext>
            </a:extLst>
          </p:cNvPr>
          <p:cNvCxnSpPr/>
          <p:nvPr/>
        </p:nvCxnSpPr>
        <p:spPr>
          <a:xfrm flipV="1">
            <a:off x="5583936" y="5294376"/>
            <a:ext cx="0" cy="173736"/>
          </a:xfrm>
          <a:prstGeom prst="line">
            <a:avLst/>
          </a:prstGeom>
          <a:ln w="19050">
            <a:solidFill>
              <a:srgbClr val="EBB1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56">
            <a:extLst>
              <a:ext uri="{FF2B5EF4-FFF2-40B4-BE49-F238E27FC236}">
                <a16:creationId xmlns:a16="http://schemas.microsoft.com/office/drawing/2014/main" id="{39DE74A7-A8F2-AC79-FCB6-00BA12DADFB0}"/>
              </a:ext>
            </a:extLst>
          </p:cNvPr>
          <p:cNvSpPr txBox="1"/>
          <p:nvPr/>
        </p:nvSpPr>
        <p:spPr>
          <a:xfrm>
            <a:off x="4011168" y="6327648"/>
            <a:ext cx="3154680" cy="301752"/>
          </a:xfrm>
          <a:prstGeom prst="rect">
            <a:avLst/>
          </a:prstGeom>
          <a:noFill/>
        </p:spPr>
        <p:txBody>
          <a:bodyPr wrap="none" lIns="0" tIns="22860" rIns="0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592D8C"/>
                </a:solidFill>
                <a:latin typeface="Aptos"/>
              </a:defRPr>
            </a:pPr>
            <a:r>
              <a:t>QNX integration — FUTURE / PLANNED</a:t>
            </a:r>
          </a:p>
        </p:txBody>
      </p:sp>
      <p:sp>
        <p:nvSpPr>
          <p:cNvPr id="178" name="TextBox 58">
            <a:extLst>
              <a:ext uri="{FF2B5EF4-FFF2-40B4-BE49-F238E27FC236}">
                <a16:creationId xmlns:a16="http://schemas.microsoft.com/office/drawing/2014/main" id="{A8909AB3-B56C-D0DD-F82C-EBEA97319A69}"/>
              </a:ext>
            </a:extLst>
          </p:cNvPr>
          <p:cNvSpPr txBox="1"/>
          <p:nvPr/>
        </p:nvSpPr>
        <p:spPr>
          <a:xfrm>
            <a:off x="3983735" y="5504688"/>
            <a:ext cx="3200400" cy="658368"/>
          </a:xfrm>
          <a:prstGeom prst="rect">
            <a:avLst/>
          </a:prstGeom>
          <a:noFill/>
        </p:spPr>
        <p:txBody>
          <a:bodyPr wrap="none" lIns="73152" tIns="18288" rIns="73152" bIns="18288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7A5200"/>
                </a:solidFill>
                <a:latin typeface="Aptos"/>
              </a:defRPr>
            </a:pPr>
            <a:r>
              <a:t>POWER SUPPLY</a:t>
            </a:r>
          </a:p>
          <a:p>
            <a:pPr algn="ctr">
              <a:defRPr sz="1000">
                <a:solidFill>
                  <a:srgbClr val="202D3A"/>
                </a:solidFill>
                <a:latin typeface="Aptos"/>
              </a:defRPr>
            </a:pPr>
            <a:r>
              <a:t>EV battery / regulated supply for ESP32 and modules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1">
            <a:extLst>
              <a:ext uri="{FF2B5EF4-FFF2-40B4-BE49-F238E27FC236}">
                <a16:creationId xmlns:a16="http://schemas.microsoft.com/office/drawing/2014/main" id="{7C3E32E4-046C-3CDC-640F-F905B04C1104}"/>
              </a:ext>
            </a:extLst>
          </p:cNvPr>
          <p:cNvSpPr txBox="1"/>
          <p:nvPr/>
        </p:nvSpPr>
        <p:spPr>
          <a:xfrm>
            <a:off x="454152" y="256032"/>
            <a:ext cx="8046720" cy="530352"/>
          </a:xfrm>
          <a:prstGeom prst="rect">
            <a:avLst/>
          </a:prstGeom>
          <a:noFill/>
        </p:spPr>
        <p:txBody>
          <a:bodyPr wrap="none" lIns="0" tIns="22860" rIns="0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800" b="1">
                <a:solidFill>
                  <a:srgbClr val="122D4E"/>
                </a:solidFill>
                <a:latin typeface="Aptos"/>
              </a:defRPr>
            </a:pPr>
            <a:r>
              <a:rPr dirty="0"/>
              <a:t>METHODOLOGY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A99BA34-4D9D-5FD5-B11A-F1EFC5F04861}"/>
              </a:ext>
            </a:extLst>
          </p:cNvPr>
          <p:cNvSpPr/>
          <p:nvPr/>
        </p:nvSpPr>
        <p:spPr>
          <a:xfrm>
            <a:off x="472440" y="832104"/>
            <a:ext cx="1417320" cy="41148"/>
          </a:xfrm>
          <a:prstGeom prst="rect">
            <a:avLst/>
          </a:prstGeom>
          <a:solidFill>
            <a:srgbClr val="C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4" name="TextBox 3">
            <a:extLst>
              <a:ext uri="{FF2B5EF4-FFF2-40B4-BE49-F238E27FC236}">
                <a16:creationId xmlns:a16="http://schemas.microsoft.com/office/drawing/2014/main" id="{A4F1F64E-636E-E6BA-47EE-B018CBA08D9C}"/>
              </a:ext>
            </a:extLst>
          </p:cNvPr>
          <p:cNvSpPr txBox="1"/>
          <p:nvPr/>
        </p:nvSpPr>
        <p:spPr>
          <a:xfrm>
            <a:off x="472440" y="914400"/>
            <a:ext cx="11155680" cy="274320"/>
          </a:xfrm>
          <a:prstGeom prst="rect">
            <a:avLst/>
          </a:prstGeom>
          <a:noFill/>
        </p:spPr>
        <p:txBody>
          <a:bodyPr wrap="none" lIns="0" tIns="22860" rIns="0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5C6976"/>
                </a:solidFill>
                <a:latin typeface="Aptos"/>
              </a:defRPr>
            </a:pPr>
            <a:r>
              <a:t>Sensor acquisition → edge intelligence → fault decision → alert and monitoring</a:t>
            </a:r>
          </a:p>
        </p:txBody>
      </p:sp>
      <p:sp>
        <p:nvSpPr>
          <p:cNvPr id="55" name="Rounded Rectangle 4">
            <a:extLst>
              <a:ext uri="{FF2B5EF4-FFF2-40B4-BE49-F238E27FC236}">
                <a16:creationId xmlns:a16="http://schemas.microsoft.com/office/drawing/2014/main" id="{91D3503C-6D3B-EFC9-8970-EAACB8764519}"/>
              </a:ext>
            </a:extLst>
          </p:cNvPr>
          <p:cNvSpPr/>
          <p:nvPr/>
        </p:nvSpPr>
        <p:spPr>
          <a:xfrm>
            <a:off x="426720" y="1527048"/>
            <a:ext cx="1691640" cy="2148840"/>
          </a:xfrm>
          <a:prstGeom prst="roundRect">
            <a:avLst/>
          </a:prstGeom>
          <a:solidFill>
            <a:srgbClr val="E5F1FF"/>
          </a:solidFill>
          <a:ln w="16510">
            <a:solidFill>
              <a:srgbClr val="53A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6" name="TextBox 5">
            <a:extLst>
              <a:ext uri="{FF2B5EF4-FFF2-40B4-BE49-F238E27FC236}">
                <a16:creationId xmlns:a16="http://schemas.microsoft.com/office/drawing/2014/main" id="{F7530534-1CAB-34F9-C7DE-4B491BE8CC1C}"/>
              </a:ext>
            </a:extLst>
          </p:cNvPr>
          <p:cNvSpPr txBox="1"/>
          <p:nvPr/>
        </p:nvSpPr>
        <p:spPr>
          <a:xfrm>
            <a:off x="499872" y="1645920"/>
            <a:ext cx="1545336" cy="38404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122D4E"/>
                </a:solidFill>
                <a:latin typeface="Aptos"/>
              </a:defRPr>
            </a:pPr>
            <a:r>
              <a:t>01  SENSE</a:t>
            </a:r>
          </a:p>
        </p:txBody>
      </p:sp>
      <p:sp>
        <p:nvSpPr>
          <p:cNvPr id="57" name="TextBox 6">
            <a:extLst>
              <a:ext uri="{FF2B5EF4-FFF2-40B4-BE49-F238E27FC236}">
                <a16:creationId xmlns:a16="http://schemas.microsoft.com/office/drawing/2014/main" id="{83CCF150-A91B-DEC9-BECD-32C91A30F40F}"/>
              </a:ext>
            </a:extLst>
          </p:cNvPr>
          <p:cNvSpPr txBox="1"/>
          <p:nvPr/>
        </p:nvSpPr>
        <p:spPr>
          <a:xfrm>
            <a:off x="536448" y="2121408"/>
            <a:ext cx="1472184" cy="135331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0">
                <a:solidFill>
                  <a:srgbClr val="23313F"/>
                </a:solidFill>
                <a:latin typeface="Aptos"/>
              </a:defRPr>
            </a:pPr>
            <a:r>
              <a:t>Voltage</a:t>
            </a:r>
            <a:br/>
            <a:r>
              <a:t>Current</a:t>
            </a:r>
            <a:br/>
            <a:r>
              <a:t>Temperature</a:t>
            </a:r>
            <a:br/>
            <a:r>
              <a:t>Smoke / flame</a:t>
            </a:r>
          </a:p>
        </p:txBody>
      </p:sp>
      <p:sp>
        <p:nvSpPr>
          <p:cNvPr id="58" name="Rounded Rectangle 7">
            <a:extLst>
              <a:ext uri="{FF2B5EF4-FFF2-40B4-BE49-F238E27FC236}">
                <a16:creationId xmlns:a16="http://schemas.microsoft.com/office/drawing/2014/main" id="{F872D4AF-6A37-F67C-0B4C-13CF9462237F}"/>
              </a:ext>
            </a:extLst>
          </p:cNvPr>
          <p:cNvSpPr/>
          <p:nvPr/>
        </p:nvSpPr>
        <p:spPr>
          <a:xfrm>
            <a:off x="2346960" y="1527048"/>
            <a:ext cx="1691640" cy="2148840"/>
          </a:xfrm>
          <a:prstGeom prst="roundRect">
            <a:avLst/>
          </a:prstGeom>
          <a:solidFill>
            <a:srgbClr val="E5F1FF"/>
          </a:solidFill>
          <a:ln w="16510">
            <a:solidFill>
              <a:srgbClr val="53A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9" name="TextBox 8">
            <a:extLst>
              <a:ext uri="{FF2B5EF4-FFF2-40B4-BE49-F238E27FC236}">
                <a16:creationId xmlns:a16="http://schemas.microsoft.com/office/drawing/2014/main" id="{A6377177-6E5D-CAC1-2EAD-E2DF07696EE5}"/>
              </a:ext>
            </a:extLst>
          </p:cNvPr>
          <p:cNvSpPr txBox="1"/>
          <p:nvPr/>
        </p:nvSpPr>
        <p:spPr>
          <a:xfrm>
            <a:off x="2420112" y="1645920"/>
            <a:ext cx="1545336" cy="38404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122D4E"/>
                </a:solidFill>
                <a:latin typeface="Aptos"/>
              </a:defRPr>
            </a:pPr>
            <a:r>
              <a:t>02  ACQUIRE</a:t>
            </a:r>
          </a:p>
        </p:txBody>
      </p:sp>
      <p:sp>
        <p:nvSpPr>
          <p:cNvPr id="60" name="TextBox 9">
            <a:extLst>
              <a:ext uri="{FF2B5EF4-FFF2-40B4-BE49-F238E27FC236}">
                <a16:creationId xmlns:a16="http://schemas.microsoft.com/office/drawing/2014/main" id="{44883766-CCE0-ABB4-F37C-3969438743BC}"/>
              </a:ext>
            </a:extLst>
          </p:cNvPr>
          <p:cNvSpPr txBox="1"/>
          <p:nvPr/>
        </p:nvSpPr>
        <p:spPr>
          <a:xfrm>
            <a:off x="2456688" y="2121408"/>
            <a:ext cx="1472184" cy="135331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0">
                <a:solidFill>
                  <a:srgbClr val="23313F"/>
                </a:solidFill>
                <a:latin typeface="Aptos"/>
              </a:defRPr>
            </a:pPr>
            <a:r>
              <a:t>ESP32 reads</a:t>
            </a:r>
            <a:br/>
            <a:r>
              <a:t>sensor values</a:t>
            </a:r>
            <a:br/>
            <a:r>
              <a:t>at regular</a:t>
            </a:r>
            <a:br/>
            <a:r>
              <a:t>intervals</a:t>
            </a:r>
          </a:p>
        </p:txBody>
      </p:sp>
      <p:sp>
        <p:nvSpPr>
          <p:cNvPr id="61" name="Rounded Rectangle 10">
            <a:extLst>
              <a:ext uri="{FF2B5EF4-FFF2-40B4-BE49-F238E27FC236}">
                <a16:creationId xmlns:a16="http://schemas.microsoft.com/office/drawing/2014/main" id="{9919C047-8133-AFE0-141C-72C31FF0DDC2}"/>
              </a:ext>
            </a:extLst>
          </p:cNvPr>
          <p:cNvSpPr/>
          <p:nvPr/>
        </p:nvSpPr>
        <p:spPr>
          <a:xfrm>
            <a:off x="4267200" y="1527048"/>
            <a:ext cx="1691640" cy="2148840"/>
          </a:xfrm>
          <a:prstGeom prst="roundRect">
            <a:avLst/>
          </a:prstGeom>
          <a:solidFill>
            <a:srgbClr val="FFEBEB"/>
          </a:solidFill>
          <a:ln w="16510">
            <a:solidFill>
              <a:srgbClr val="C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2" name="TextBox 11">
            <a:extLst>
              <a:ext uri="{FF2B5EF4-FFF2-40B4-BE49-F238E27FC236}">
                <a16:creationId xmlns:a16="http://schemas.microsoft.com/office/drawing/2014/main" id="{8F2C1084-A611-BD91-B44B-9FD51BDC85F9}"/>
              </a:ext>
            </a:extLst>
          </p:cNvPr>
          <p:cNvSpPr txBox="1"/>
          <p:nvPr/>
        </p:nvSpPr>
        <p:spPr>
          <a:xfrm>
            <a:off x="4340352" y="1645920"/>
            <a:ext cx="1545336" cy="38404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122D4E"/>
                </a:solidFill>
                <a:latin typeface="Aptos"/>
              </a:defRPr>
            </a:pPr>
            <a:r>
              <a:t>03  PRE-PROCESS</a:t>
            </a:r>
          </a:p>
        </p:txBody>
      </p:sp>
      <p:sp>
        <p:nvSpPr>
          <p:cNvPr id="63" name="TextBox 12">
            <a:extLst>
              <a:ext uri="{FF2B5EF4-FFF2-40B4-BE49-F238E27FC236}">
                <a16:creationId xmlns:a16="http://schemas.microsoft.com/office/drawing/2014/main" id="{F5BE1034-E985-E880-FE3C-1B204557F584}"/>
              </a:ext>
            </a:extLst>
          </p:cNvPr>
          <p:cNvSpPr txBox="1"/>
          <p:nvPr/>
        </p:nvSpPr>
        <p:spPr>
          <a:xfrm>
            <a:off x="4376928" y="2121408"/>
            <a:ext cx="1472184" cy="135331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0">
                <a:solidFill>
                  <a:srgbClr val="23313F"/>
                </a:solidFill>
                <a:latin typeface="Aptos"/>
              </a:defRPr>
            </a:pPr>
            <a:r>
              <a:t>Filter / scale</a:t>
            </a:r>
            <a:br/>
            <a:r>
              <a:t>measurements</a:t>
            </a:r>
            <a:br/>
            <a:r>
              <a:t>and prepare</a:t>
            </a:r>
            <a:br/>
            <a:r>
              <a:t>model inputs</a:t>
            </a:r>
          </a:p>
        </p:txBody>
      </p:sp>
      <p:sp>
        <p:nvSpPr>
          <p:cNvPr id="64" name="Rounded Rectangle 13">
            <a:extLst>
              <a:ext uri="{FF2B5EF4-FFF2-40B4-BE49-F238E27FC236}">
                <a16:creationId xmlns:a16="http://schemas.microsoft.com/office/drawing/2014/main" id="{FDCA97B9-9AD8-9234-C6EA-E1FA9DBB7044}"/>
              </a:ext>
            </a:extLst>
          </p:cNvPr>
          <p:cNvSpPr/>
          <p:nvPr/>
        </p:nvSpPr>
        <p:spPr>
          <a:xfrm>
            <a:off x="6187440" y="1527048"/>
            <a:ext cx="1691640" cy="2148840"/>
          </a:xfrm>
          <a:prstGeom prst="roundRect">
            <a:avLst/>
          </a:prstGeom>
          <a:solidFill>
            <a:srgbClr val="FFEBEB"/>
          </a:solidFill>
          <a:ln w="16510">
            <a:solidFill>
              <a:srgbClr val="C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5" name="TextBox 14">
            <a:extLst>
              <a:ext uri="{FF2B5EF4-FFF2-40B4-BE49-F238E27FC236}">
                <a16:creationId xmlns:a16="http://schemas.microsoft.com/office/drawing/2014/main" id="{34C5EBA1-5263-9FAE-B92C-123438DC4EC3}"/>
              </a:ext>
            </a:extLst>
          </p:cNvPr>
          <p:cNvSpPr txBox="1"/>
          <p:nvPr/>
        </p:nvSpPr>
        <p:spPr>
          <a:xfrm>
            <a:off x="6260592" y="1645920"/>
            <a:ext cx="1545336" cy="38404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122D4E"/>
                </a:solidFill>
                <a:latin typeface="Aptos"/>
              </a:defRPr>
            </a:pPr>
            <a:r>
              <a:t>04  DETECT</a:t>
            </a:r>
          </a:p>
        </p:txBody>
      </p:sp>
      <p:sp>
        <p:nvSpPr>
          <p:cNvPr id="66" name="TextBox 15">
            <a:extLst>
              <a:ext uri="{FF2B5EF4-FFF2-40B4-BE49-F238E27FC236}">
                <a16:creationId xmlns:a16="http://schemas.microsoft.com/office/drawing/2014/main" id="{37B77BC6-4065-8F7A-A3E9-58EC16B6560D}"/>
              </a:ext>
            </a:extLst>
          </p:cNvPr>
          <p:cNvSpPr txBox="1"/>
          <p:nvPr/>
        </p:nvSpPr>
        <p:spPr>
          <a:xfrm>
            <a:off x="6297168" y="2121408"/>
            <a:ext cx="1472184" cy="135331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0">
                <a:solidFill>
                  <a:srgbClr val="23313F"/>
                </a:solidFill>
                <a:latin typeface="Aptos"/>
              </a:defRPr>
            </a:pPr>
            <a:r>
              <a:t>TinyML model</a:t>
            </a:r>
            <a:br/>
            <a:r>
              <a:t>classifies normal</a:t>
            </a:r>
            <a:br/>
            <a:r>
              <a:t>or abnormal</a:t>
            </a:r>
            <a:br/>
            <a:r>
              <a:t>conditions*</a:t>
            </a:r>
          </a:p>
        </p:txBody>
      </p:sp>
      <p:sp>
        <p:nvSpPr>
          <p:cNvPr id="67" name="Rounded Rectangle 16">
            <a:extLst>
              <a:ext uri="{FF2B5EF4-FFF2-40B4-BE49-F238E27FC236}">
                <a16:creationId xmlns:a16="http://schemas.microsoft.com/office/drawing/2014/main" id="{E242C51D-74D6-867B-D021-FF6A2F509070}"/>
              </a:ext>
            </a:extLst>
          </p:cNvPr>
          <p:cNvSpPr/>
          <p:nvPr/>
        </p:nvSpPr>
        <p:spPr>
          <a:xfrm>
            <a:off x="8107680" y="1527048"/>
            <a:ext cx="1691640" cy="2148840"/>
          </a:xfrm>
          <a:prstGeom prst="roundRect">
            <a:avLst/>
          </a:prstGeom>
          <a:solidFill>
            <a:srgbClr val="E7F7E9"/>
          </a:solidFill>
          <a:ln w="16510">
            <a:solidFill>
              <a:srgbClr val="64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8" name="TextBox 17">
            <a:extLst>
              <a:ext uri="{FF2B5EF4-FFF2-40B4-BE49-F238E27FC236}">
                <a16:creationId xmlns:a16="http://schemas.microsoft.com/office/drawing/2014/main" id="{4CDD522B-8FB0-D6A1-AFC5-0F5E860EE454}"/>
              </a:ext>
            </a:extLst>
          </p:cNvPr>
          <p:cNvSpPr txBox="1"/>
          <p:nvPr/>
        </p:nvSpPr>
        <p:spPr>
          <a:xfrm>
            <a:off x="8180832" y="1645920"/>
            <a:ext cx="1545336" cy="38404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122D4E"/>
                </a:solidFill>
                <a:latin typeface="Aptos"/>
              </a:defRPr>
            </a:pPr>
            <a:r>
              <a:t>05  RESPOND</a:t>
            </a:r>
          </a:p>
        </p:txBody>
      </p:sp>
      <p:sp>
        <p:nvSpPr>
          <p:cNvPr id="69" name="TextBox 18">
            <a:extLst>
              <a:ext uri="{FF2B5EF4-FFF2-40B4-BE49-F238E27FC236}">
                <a16:creationId xmlns:a16="http://schemas.microsoft.com/office/drawing/2014/main" id="{8771B9A3-2C6F-F633-30CB-B75574530512}"/>
              </a:ext>
            </a:extLst>
          </p:cNvPr>
          <p:cNvSpPr txBox="1"/>
          <p:nvPr/>
        </p:nvSpPr>
        <p:spPr>
          <a:xfrm>
            <a:off x="8217407" y="2121408"/>
            <a:ext cx="1472184" cy="135331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0">
                <a:solidFill>
                  <a:srgbClr val="23313F"/>
                </a:solidFill>
                <a:latin typeface="Aptos"/>
              </a:defRPr>
            </a:pPr>
            <a:r>
              <a:t>Update LCD</a:t>
            </a:r>
            <a:br/>
            <a:r>
              <a:t>Enable fan at</a:t>
            </a:r>
            <a:br/>
            <a:r>
              <a:t>high temperature</a:t>
            </a:r>
            <a:br/>
            <a:r>
              <a:t>Send GSM SMS</a:t>
            </a:r>
          </a:p>
        </p:txBody>
      </p:sp>
      <p:sp>
        <p:nvSpPr>
          <p:cNvPr id="70" name="Rounded Rectangle 19">
            <a:extLst>
              <a:ext uri="{FF2B5EF4-FFF2-40B4-BE49-F238E27FC236}">
                <a16:creationId xmlns:a16="http://schemas.microsoft.com/office/drawing/2014/main" id="{3CA2F638-297E-E0E6-0C51-97A4853B7642}"/>
              </a:ext>
            </a:extLst>
          </p:cNvPr>
          <p:cNvSpPr/>
          <p:nvPr/>
        </p:nvSpPr>
        <p:spPr>
          <a:xfrm>
            <a:off x="10027920" y="1527048"/>
            <a:ext cx="1737360" cy="2148840"/>
          </a:xfrm>
          <a:prstGeom prst="roundRect">
            <a:avLst/>
          </a:prstGeom>
          <a:solidFill>
            <a:srgbClr val="E7F7E9"/>
          </a:solidFill>
          <a:ln w="16510">
            <a:solidFill>
              <a:srgbClr val="64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1" name="TextBox 20">
            <a:extLst>
              <a:ext uri="{FF2B5EF4-FFF2-40B4-BE49-F238E27FC236}">
                <a16:creationId xmlns:a16="http://schemas.microsoft.com/office/drawing/2014/main" id="{8A6729F5-FEA3-DF12-BFFA-47E80FFAEFBC}"/>
              </a:ext>
            </a:extLst>
          </p:cNvPr>
          <p:cNvSpPr txBox="1"/>
          <p:nvPr/>
        </p:nvSpPr>
        <p:spPr>
          <a:xfrm>
            <a:off x="10101072" y="1645920"/>
            <a:ext cx="1591056" cy="38404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122D4E"/>
                </a:solidFill>
                <a:latin typeface="Aptos"/>
              </a:defRPr>
            </a:pPr>
            <a:r>
              <a:t>06  MONITOR</a:t>
            </a:r>
          </a:p>
        </p:txBody>
      </p:sp>
      <p:sp>
        <p:nvSpPr>
          <p:cNvPr id="72" name="TextBox 21">
            <a:extLst>
              <a:ext uri="{FF2B5EF4-FFF2-40B4-BE49-F238E27FC236}">
                <a16:creationId xmlns:a16="http://schemas.microsoft.com/office/drawing/2014/main" id="{54AED7EB-5C73-706B-20B2-0A68BF0A79BD}"/>
              </a:ext>
            </a:extLst>
          </p:cNvPr>
          <p:cNvSpPr txBox="1"/>
          <p:nvPr/>
        </p:nvSpPr>
        <p:spPr>
          <a:xfrm>
            <a:off x="10137647" y="2121408"/>
            <a:ext cx="1517904" cy="1353312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0">
                <a:solidFill>
                  <a:srgbClr val="23313F"/>
                </a:solidFill>
                <a:latin typeface="Aptos"/>
              </a:defRPr>
            </a:pPr>
            <a:r>
              <a:t>Upload readings</a:t>
            </a:r>
            <a:br/>
            <a:r>
              <a:t>and fault status</a:t>
            </a:r>
            <a:br/>
            <a:r>
              <a:t>to ThingSpeak</a:t>
            </a:r>
            <a:br/>
            <a:r>
              <a:t>via Wi-Fi</a:t>
            </a:r>
          </a:p>
        </p:txBody>
      </p:sp>
      <p:cxnSp>
        <p:nvCxnSpPr>
          <p:cNvPr id="73" name="Connector 22">
            <a:extLst>
              <a:ext uri="{FF2B5EF4-FFF2-40B4-BE49-F238E27FC236}">
                <a16:creationId xmlns:a16="http://schemas.microsoft.com/office/drawing/2014/main" id="{C7F36637-AE64-80D6-835C-9866DD2072E6}"/>
              </a:ext>
            </a:extLst>
          </p:cNvPr>
          <p:cNvCxnSpPr/>
          <p:nvPr/>
        </p:nvCxnSpPr>
        <p:spPr>
          <a:xfrm>
            <a:off x="2118360" y="2596896"/>
            <a:ext cx="210312" cy="0"/>
          </a:xfrm>
          <a:prstGeom prst="line">
            <a:avLst/>
          </a:prstGeom>
          <a:ln w="22860">
            <a:solidFill>
              <a:srgbClr val="12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23">
            <a:extLst>
              <a:ext uri="{FF2B5EF4-FFF2-40B4-BE49-F238E27FC236}">
                <a16:creationId xmlns:a16="http://schemas.microsoft.com/office/drawing/2014/main" id="{A1347F19-94F4-B4B4-96B8-5437B36D253A}"/>
              </a:ext>
            </a:extLst>
          </p:cNvPr>
          <p:cNvCxnSpPr/>
          <p:nvPr/>
        </p:nvCxnSpPr>
        <p:spPr>
          <a:xfrm>
            <a:off x="4038600" y="2596896"/>
            <a:ext cx="210312" cy="0"/>
          </a:xfrm>
          <a:prstGeom prst="line">
            <a:avLst/>
          </a:prstGeom>
          <a:ln w="22860">
            <a:solidFill>
              <a:srgbClr val="12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24">
            <a:extLst>
              <a:ext uri="{FF2B5EF4-FFF2-40B4-BE49-F238E27FC236}">
                <a16:creationId xmlns:a16="http://schemas.microsoft.com/office/drawing/2014/main" id="{EE3F3414-95CF-5337-F462-171804683E45}"/>
              </a:ext>
            </a:extLst>
          </p:cNvPr>
          <p:cNvCxnSpPr/>
          <p:nvPr/>
        </p:nvCxnSpPr>
        <p:spPr>
          <a:xfrm>
            <a:off x="5958840" y="2596896"/>
            <a:ext cx="210312" cy="0"/>
          </a:xfrm>
          <a:prstGeom prst="line">
            <a:avLst/>
          </a:prstGeom>
          <a:ln w="22860">
            <a:solidFill>
              <a:srgbClr val="12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25">
            <a:extLst>
              <a:ext uri="{FF2B5EF4-FFF2-40B4-BE49-F238E27FC236}">
                <a16:creationId xmlns:a16="http://schemas.microsoft.com/office/drawing/2014/main" id="{F0ADBB28-5DC1-4837-8930-A78AD353D816}"/>
              </a:ext>
            </a:extLst>
          </p:cNvPr>
          <p:cNvCxnSpPr/>
          <p:nvPr/>
        </p:nvCxnSpPr>
        <p:spPr>
          <a:xfrm>
            <a:off x="7879080" y="2596896"/>
            <a:ext cx="210312" cy="0"/>
          </a:xfrm>
          <a:prstGeom prst="line">
            <a:avLst/>
          </a:prstGeom>
          <a:ln w="22860">
            <a:solidFill>
              <a:srgbClr val="12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26">
            <a:extLst>
              <a:ext uri="{FF2B5EF4-FFF2-40B4-BE49-F238E27FC236}">
                <a16:creationId xmlns:a16="http://schemas.microsoft.com/office/drawing/2014/main" id="{EFD60C58-4EEE-FDC0-5587-C4FE6B585431}"/>
              </a:ext>
            </a:extLst>
          </p:cNvPr>
          <p:cNvCxnSpPr/>
          <p:nvPr/>
        </p:nvCxnSpPr>
        <p:spPr>
          <a:xfrm>
            <a:off x="9799320" y="2596896"/>
            <a:ext cx="210312" cy="0"/>
          </a:xfrm>
          <a:prstGeom prst="line">
            <a:avLst/>
          </a:prstGeom>
          <a:ln w="22860">
            <a:solidFill>
              <a:srgbClr val="12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27">
            <a:extLst>
              <a:ext uri="{FF2B5EF4-FFF2-40B4-BE49-F238E27FC236}">
                <a16:creationId xmlns:a16="http://schemas.microsoft.com/office/drawing/2014/main" id="{A92C87A2-1F1C-D71A-9D89-F75A8533EACF}"/>
              </a:ext>
            </a:extLst>
          </p:cNvPr>
          <p:cNvSpPr/>
          <p:nvPr/>
        </p:nvSpPr>
        <p:spPr>
          <a:xfrm>
            <a:off x="609600" y="4087367"/>
            <a:ext cx="10972800" cy="914400"/>
          </a:xfrm>
          <a:prstGeom prst="roundRect">
            <a:avLst/>
          </a:prstGeom>
          <a:solidFill>
            <a:srgbClr val="FFF7DF"/>
          </a:solidFill>
          <a:ln w="15240">
            <a:solidFill>
              <a:srgbClr val="E4A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9" name="TextBox 28">
            <a:extLst>
              <a:ext uri="{FF2B5EF4-FFF2-40B4-BE49-F238E27FC236}">
                <a16:creationId xmlns:a16="http://schemas.microsoft.com/office/drawing/2014/main" id="{71B5913C-D93C-C84D-E3F3-64272C63DF31}"/>
              </a:ext>
            </a:extLst>
          </p:cNvPr>
          <p:cNvSpPr txBox="1"/>
          <p:nvPr/>
        </p:nvSpPr>
        <p:spPr>
          <a:xfrm>
            <a:off x="792480" y="4206240"/>
            <a:ext cx="1920240" cy="27432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7C5400"/>
                </a:solidFill>
                <a:latin typeface="Aptos"/>
              </a:defRPr>
            </a:pPr>
            <a:r>
              <a:t>FAULT DECISION</a:t>
            </a:r>
          </a:p>
        </p:txBody>
      </p:sp>
      <p:sp>
        <p:nvSpPr>
          <p:cNvPr id="80" name="TextBox 29">
            <a:extLst>
              <a:ext uri="{FF2B5EF4-FFF2-40B4-BE49-F238E27FC236}">
                <a16:creationId xmlns:a16="http://schemas.microsoft.com/office/drawing/2014/main" id="{81197076-2EC3-1D85-AD2B-702FF3D29EFB}"/>
              </a:ext>
            </a:extLst>
          </p:cNvPr>
          <p:cNvSpPr txBox="1"/>
          <p:nvPr/>
        </p:nvSpPr>
        <p:spPr>
          <a:xfrm>
            <a:off x="2712720" y="4169664"/>
            <a:ext cx="8549640" cy="530352"/>
          </a:xfrm>
          <a:prstGeom prst="rect">
            <a:avLst/>
          </a:prstGeom>
          <a:noFill/>
        </p:spPr>
        <p:txBody>
          <a:bodyPr wrap="none" lIns="27432" tIns="22860" rIns="27432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0">
                <a:solidFill>
                  <a:srgbClr val="23313F"/>
                </a:solidFill>
                <a:latin typeface="Aptos"/>
              </a:defRPr>
            </a:pPr>
            <a:r>
              <a:t>Compare measurements and model output with defined operating limits → display status → notify user → record data</a:t>
            </a:r>
          </a:p>
        </p:txBody>
      </p:sp>
      <p:sp>
        <p:nvSpPr>
          <p:cNvPr id="81" name="Rounded Rectangle 30">
            <a:extLst>
              <a:ext uri="{FF2B5EF4-FFF2-40B4-BE49-F238E27FC236}">
                <a16:creationId xmlns:a16="http://schemas.microsoft.com/office/drawing/2014/main" id="{BB12C313-3947-CA06-6C13-03EF6D42CBE0}"/>
              </a:ext>
            </a:extLst>
          </p:cNvPr>
          <p:cNvSpPr/>
          <p:nvPr/>
        </p:nvSpPr>
        <p:spPr>
          <a:xfrm>
            <a:off x="609600" y="5276088"/>
            <a:ext cx="5303520" cy="777240"/>
          </a:xfrm>
          <a:prstGeom prst="roundRect">
            <a:avLst/>
          </a:prstGeom>
          <a:solidFill>
            <a:srgbClr val="E7F7E9"/>
          </a:solidFill>
          <a:ln w="13970">
            <a:solidFill>
              <a:srgbClr val="64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2" name="TextBox 31">
            <a:extLst>
              <a:ext uri="{FF2B5EF4-FFF2-40B4-BE49-F238E27FC236}">
                <a16:creationId xmlns:a16="http://schemas.microsoft.com/office/drawing/2014/main" id="{0B2CE796-01D3-3718-2F58-6390A897F73A}"/>
              </a:ext>
            </a:extLst>
          </p:cNvPr>
          <p:cNvSpPr txBox="1"/>
          <p:nvPr/>
        </p:nvSpPr>
        <p:spPr>
          <a:xfrm>
            <a:off x="765048" y="5394960"/>
            <a:ext cx="4983480" cy="502920"/>
          </a:xfrm>
          <a:prstGeom prst="rect">
            <a:avLst/>
          </a:prstGeom>
          <a:noFill/>
        </p:spPr>
        <p:txBody>
          <a:bodyPr wrap="none" lIns="27432" tIns="22860" rIns="27432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125932"/>
                </a:solidFill>
                <a:latin typeface="Aptos"/>
              </a:defRPr>
            </a:pPr>
            <a:r>
              <a:t>CURRENT DEMO: LCD status • GSM SMS • cooling fan • ThingSpeak</a:t>
            </a:r>
          </a:p>
        </p:txBody>
      </p:sp>
      <p:sp>
        <p:nvSpPr>
          <p:cNvPr id="83" name="Rounded Rectangle 32">
            <a:extLst>
              <a:ext uri="{FF2B5EF4-FFF2-40B4-BE49-F238E27FC236}">
                <a16:creationId xmlns:a16="http://schemas.microsoft.com/office/drawing/2014/main" id="{FF0B58D5-9C28-0C35-02CA-1A28C462100E}"/>
              </a:ext>
            </a:extLst>
          </p:cNvPr>
          <p:cNvSpPr/>
          <p:nvPr/>
        </p:nvSpPr>
        <p:spPr>
          <a:xfrm>
            <a:off x="6187440" y="5276088"/>
            <a:ext cx="5394960" cy="777240"/>
          </a:xfrm>
          <a:prstGeom prst="roundRect">
            <a:avLst/>
          </a:prstGeom>
          <a:solidFill>
            <a:srgbClr val="F4EDFF"/>
          </a:solidFill>
          <a:ln w="13970">
            <a:solidFill>
              <a:srgbClr val="9B7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4" name="TextBox 33">
            <a:extLst>
              <a:ext uri="{FF2B5EF4-FFF2-40B4-BE49-F238E27FC236}">
                <a16:creationId xmlns:a16="http://schemas.microsoft.com/office/drawing/2014/main" id="{FFA599CD-6530-FE70-811E-42714CF5155E}"/>
              </a:ext>
            </a:extLst>
          </p:cNvPr>
          <p:cNvSpPr txBox="1"/>
          <p:nvPr/>
        </p:nvSpPr>
        <p:spPr>
          <a:xfrm>
            <a:off x="6324600" y="5367528"/>
            <a:ext cx="5120640" cy="548640"/>
          </a:xfrm>
          <a:prstGeom prst="rect">
            <a:avLst/>
          </a:prstGeom>
          <a:noFill/>
        </p:spPr>
        <p:txBody>
          <a:bodyPr wrap="none" lIns="27432" tIns="22860" rIns="27432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592D8C"/>
                </a:solidFill>
                <a:latin typeface="Aptos"/>
              </a:defRPr>
            </a:pPr>
            <a:r>
              <a:t>FUTURE: validate TinyML model details and integrate a QNX safety layer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">
            <a:extLst>
              <a:ext uri="{FF2B5EF4-FFF2-40B4-BE49-F238E27FC236}">
                <a16:creationId xmlns:a16="http://schemas.microsoft.com/office/drawing/2014/main" id="{47EC6EA6-D0B2-530D-522F-A0A02468A3D9}"/>
              </a:ext>
            </a:extLst>
          </p:cNvPr>
          <p:cNvSpPr txBox="1"/>
          <p:nvPr/>
        </p:nvSpPr>
        <p:spPr>
          <a:xfrm>
            <a:off x="477012" y="201168"/>
            <a:ext cx="9144000" cy="512064"/>
          </a:xfrm>
          <a:prstGeom prst="rect">
            <a:avLst/>
          </a:prstGeom>
          <a:noFill/>
        </p:spPr>
        <p:txBody>
          <a:bodyPr wrap="none" lIns="0" tIns="22860" rIns="0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600" b="1">
                <a:solidFill>
                  <a:srgbClr val="122D4E"/>
                </a:solidFill>
                <a:latin typeface="Aptos"/>
              </a:defRPr>
            </a:pPr>
            <a:r>
              <a:t>PARAMETERS &amp; EXPECTED OUTPUTS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347951-7802-27DB-2C14-A2EFBF9EAC82}"/>
              </a:ext>
            </a:extLst>
          </p:cNvPr>
          <p:cNvSpPr/>
          <p:nvPr/>
        </p:nvSpPr>
        <p:spPr>
          <a:xfrm>
            <a:off x="495300" y="758952"/>
            <a:ext cx="1417320" cy="41148"/>
          </a:xfrm>
          <a:prstGeom prst="rect">
            <a:avLst/>
          </a:prstGeom>
          <a:solidFill>
            <a:srgbClr val="C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97D626B1-864A-4371-4243-07D38AA66CAF}"/>
              </a:ext>
            </a:extLst>
          </p:cNvPr>
          <p:cNvSpPr txBox="1"/>
          <p:nvPr/>
        </p:nvSpPr>
        <p:spPr>
          <a:xfrm>
            <a:off x="495300" y="859536"/>
            <a:ext cx="11155680" cy="274320"/>
          </a:xfrm>
          <a:prstGeom prst="rect">
            <a:avLst/>
          </a:prstGeom>
          <a:noFill/>
        </p:spPr>
        <p:txBody>
          <a:bodyPr wrap="none" lIns="0" tIns="22860" rIns="0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5C6976"/>
                </a:solidFill>
                <a:latin typeface="Aptos"/>
              </a:defRPr>
            </a:pPr>
            <a:r>
              <a:t>Continuous battery monitoring • Fault identification • Local and remote status</a:t>
            </a:r>
          </a:p>
        </p:txBody>
      </p:sp>
      <p:sp>
        <p:nvSpPr>
          <p:cNvPr id="22" name="Rounded Rectangle 4">
            <a:extLst>
              <a:ext uri="{FF2B5EF4-FFF2-40B4-BE49-F238E27FC236}">
                <a16:creationId xmlns:a16="http://schemas.microsoft.com/office/drawing/2014/main" id="{80EFCC8D-6DA6-B205-5D0B-12336D0F30F5}"/>
              </a:ext>
            </a:extLst>
          </p:cNvPr>
          <p:cNvSpPr/>
          <p:nvPr/>
        </p:nvSpPr>
        <p:spPr>
          <a:xfrm>
            <a:off x="541020" y="1389888"/>
            <a:ext cx="5440680" cy="4160520"/>
          </a:xfrm>
          <a:prstGeom prst="roundRect">
            <a:avLst/>
          </a:prstGeom>
          <a:solidFill>
            <a:srgbClr val="E5F1FF"/>
          </a:solidFill>
          <a:ln w="17780">
            <a:solidFill>
              <a:srgbClr val="53A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" name="Rounded Rectangle 5">
            <a:extLst>
              <a:ext uri="{FF2B5EF4-FFF2-40B4-BE49-F238E27FC236}">
                <a16:creationId xmlns:a16="http://schemas.microsoft.com/office/drawing/2014/main" id="{F2BF36DC-D18E-12E5-2E7C-7B4281C289FC}"/>
              </a:ext>
            </a:extLst>
          </p:cNvPr>
          <p:cNvSpPr/>
          <p:nvPr/>
        </p:nvSpPr>
        <p:spPr>
          <a:xfrm>
            <a:off x="6274308" y="1389888"/>
            <a:ext cx="5440680" cy="4160520"/>
          </a:xfrm>
          <a:prstGeom prst="roundRect">
            <a:avLst/>
          </a:prstGeom>
          <a:solidFill>
            <a:srgbClr val="E7F7E9"/>
          </a:solidFill>
          <a:ln w="17780">
            <a:solidFill>
              <a:srgbClr val="64B9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B5F86AFA-5637-990F-23D4-CD40AF89A5A2}"/>
              </a:ext>
            </a:extLst>
          </p:cNvPr>
          <p:cNvSpPr txBox="1"/>
          <p:nvPr/>
        </p:nvSpPr>
        <p:spPr>
          <a:xfrm>
            <a:off x="751332" y="1517904"/>
            <a:ext cx="5029200" cy="38404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700" b="1">
                <a:solidFill>
                  <a:srgbClr val="122D4E"/>
                </a:solidFill>
                <a:latin typeface="Aptos"/>
              </a:defRPr>
            </a:pPr>
            <a:r>
              <a:t>PARAMETERS MONITORED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700296EA-FC85-E1AA-4D48-AA995F21207C}"/>
              </a:ext>
            </a:extLst>
          </p:cNvPr>
          <p:cNvSpPr txBox="1"/>
          <p:nvPr/>
        </p:nvSpPr>
        <p:spPr>
          <a:xfrm>
            <a:off x="6484620" y="1517904"/>
            <a:ext cx="5029200" cy="38404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700" b="1">
                <a:solidFill>
                  <a:srgbClr val="125932"/>
                </a:solidFill>
                <a:latin typeface="Aptos"/>
              </a:defRPr>
            </a:pPr>
            <a:r>
              <a:t>EXPECTED OUTPUTS</a:t>
            </a:r>
          </a:p>
        </p:txBody>
      </p:sp>
      <p:sp>
        <p:nvSpPr>
          <p:cNvPr id="26" name="Rounded Rectangle 8">
            <a:extLst>
              <a:ext uri="{FF2B5EF4-FFF2-40B4-BE49-F238E27FC236}">
                <a16:creationId xmlns:a16="http://schemas.microsoft.com/office/drawing/2014/main" id="{74B145BA-F29C-D11D-2B41-DC99E632E36A}"/>
              </a:ext>
            </a:extLst>
          </p:cNvPr>
          <p:cNvSpPr/>
          <p:nvPr/>
        </p:nvSpPr>
        <p:spPr>
          <a:xfrm>
            <a:off x="787908" y="2048256"/>
            <a:ext cx="493776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1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A37B0324-9772-A026-E0CA-51FC56B38108}"/>
              </a:ext>
            </a:extLst>
          </p:cNvPr>
          <p:cNvSpPr txBox="1"/>
          <p:nvPr/>
        </p:nvSpPr>
        <p:spPr>
          <a:xfrm>
            <a:off x="952500" y="2084832"/>
            <a:ext cx="1508760" cy="512064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122D4E"/>
                </a:solidFill>
                <a:latin typeface="Aptos"/>
              </a:defRPr>
            </a:pPr>
            <a:r>
              <a:t>Voltage</a:t>
            </a: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AAA48F0D-8C36-965C-BD77-87EE925FB1D2}"/>
              </a:ext>
            </a:extLst>
          </p:cNvPr>
          <p:cNvSpPr txBox="1"/>
          <p:nvPr/>
        </p:nvSpPr>
        <p:spPr>
          <a:xfrm>
            <a:off x="2461260" y="2084832"/>
            <a:ext cx="3063240" cy="512064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23313F"/>
                </a:solidFill>
                <a:latin typeface="Aptos"/>
              </a:defRPr>
            </a:pPr>
            <a:r>
              <a:t>Battery voltage measurement</a:t>
            </a:r>
          </a:p>
        </p:txBody>
      </p:sp>
      <p:sp>
        <p:nvSpPr>
          <p:cNvPr id="29" name="Rounded Rectangle 11">
            <a:extLst>
              <a:ext uri="{FF2B5EF4-FFF2-40B4-BE49-F238E27FC236}">
                <a16:creationId xmlns:a16="http://schemas.microsoft.com/office/drawing/2014/main" id="{527E5A58-C199-3C10-D4A0-9148CBD5F5CB}"/>
              </a:ext>
            </a:extLst>
          </p:cNvPr>
          <p:cNvSpPr/>
          <p:nvPr/>
        </p:nvSpPr>
        <p:spPr>
          <a:xfrm>
            <a:off x="787908" y="2798064"/>
            <a:ext cx="493776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1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856E5DF5-BB72-F12A-86A0-194A7601902C}"/>
              </a:ext>
            </a:extLst>
          </p:cNvPr>
          <p:cNvSpPr txBox="1"/>
          <p:nvPr/>
        </p:nvSpPr>
        <p:spPr>
          <a:xfrm>
            <a:off x="952500" y="2834640"/>
            <a:ext cx="1508760" cy="512064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122D4E"/>
                </a:solidFill>
                <a:latin typeface="Aptos"/>
              </a:defRPr>
            </a:pPr>
            <a:r>
              <a:t>Current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AE1CAFD5-9D89-D23E-BC29-B640BB0D1BC4}"/>
              </a:ext>
            </a:extLst>
          </p:cNvPr>
          <p:cNvSpPr txBox="1"/>
          <p:nvPr/>
        </p:nvSpPr>
        <p:spPr>
          <a:xfrm>
            <a:off x="2461260" y="2834640"/>
            <a:ext cx="3063240" cy="512064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23313F"/>
                </a:solidFill>
                <a:latin typeface="Aptos"/>
              </a:defRPr>
            </a:pPr>
            <a:r>
              <a:t>Battery current measurement</a:t>
            </a:r>
          </a:p>
        </p:txBody>
      </p:sp>
      <p:sp>
        <p:nvSpPr>
          <p:cNvPr id="32" name="Rounded Rectangle 14">
            <a:extLst>
              <a:ext uri="{FF2B5EF4-FFF2-40B4-BE49-F238E27FC236}">
                <a16:creationId xmlns:a16="http://schemas.microsoft.com/office/drawing/2014/main" id="{29D6425D-EB88-F075-B6F4-0ECC063880F8}"/>
              </a:ext>
            </a:extLst>
          </p:cNvPr>
          <p:cNvSpPr/>
          <p:nvPr/>
        </p:nvSpPr>
        <p:spPr>
          <a:xfrm>
            <a:off x="787908" y="3547872"/>
            <a:ext cx="493776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1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98460F81-EF33-B3AD-E35E-74E29E2A95A0}"/>
              </a:ext>
            </a:extLst>
          </p:cNvPr>
          <p:cNvSpPr txBox="1"/>
          <p:nvPr/>
        </p:nvSpPr>
        <p:spPr>
          <a:xfrm>
            <a:off x="952500" y="3584448"/>
            <a:ext cx="1508760" cy="512064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122D4E"/>
                </a:solidFill>
                <a:latin typeface="Aptos"/>
              </a:defRPr>
            </a:pPr>
            <a:r>
              <a:t>Temperature</a:t>
            </a:r>
          </a:p>
        </p:txBody>
      </p:sp>
      <p:sp>
        <p:nvSpPr>
          <p:cNvPr id="34" name="TextBox 16">
            <a:extLst>
              <a:ext uri="{FF2B5EF4-FFF2-40B4-BE49-F238E27FC236}">
                <a16:creationId xmlns:a16="http://schemas.microsoft.com/office/drawing/2014/main" id="{7F96BDED-8D88-99F7-B441-E78BFFC81EB8}"/>
              </a:ext>
            </a:extLst>
          </p:cNvPr>
          <p:cNvSpPr txBox="1"/>
          <p:nvPr/>
        </p:nvSpPr>
        <p:spPr>
          <a:xfrm>
            <a:off x="2461260" y="3584448"/>
            <a:ext cx="3063240" cy="512064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23313F"/>
                </a:solidFill>
                <a:latin typeface="Aptos"/>
              </a:defRPr>
            </a:pPr>
            <a:r>
              <a:t>Thermal condition monitoring</a:t>
            </a:r>
          </a:p>
        </p:txBody>
      </p:sp>
      <p:sp>
        <p:nvSpPr>
          <p:cNvPr id="35" name="Rounded Rectangle 17">
            <a:extLst>
              <a:ext uri="{FF2B5EF4-FFF2-40B4-BE49-F238E27FC236}">
                <a16:creationId xmlns:a16="http://schemas.microsoft.com/office/drawing/2014/main" id="{FEA8C7AA-0C67-F9FF-BB77-3837C409DC51}"/>
              </a:ext>
            </a:extLst>
          </p:cNvPr>
          <p:cNvSpPr/>
          <p:nvPr/>
        </p:nvSpPr>
        <p:spPr>
          <a:xfrm>
            <a:off x="787908" y="4297680"/>
            <a:ext cx="493776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1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6" name="TextBox 18">
            <a:extLst>
              <a:ext uri="{FF2B5EF4-FFF2-40B4-BE49-F238E27FC236}">
                <a16:creationId xmlns:a16="http://schemas.microsoft.com/office/drawing/2014/main" id="{3B59988A-A726-4C19-E527-57AC7426F895}"/>
              </a:ext>
            </a:extLst>
          </p:cNvPr>
          <p:cNvSpPr txBox="1"/>
          <p:nvPr/>
        </p:nvSpPr>
        <p:spPr>
          <a:xfrm>
            <a:off x="952500" y="4334256"/>
            <a:ext cx="1508760" cy="512064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122D4E"/>
                </a:solidFill>
                <a:latin typeface="Aptos"/>
              </a:defRPr>
            </a:pPr>
            <a:r>
              <a:t>Smoke / flame</a:t>
            </a:r>
          </a:p>
        </p:txBody>
      </p:sp>
      <p:sp>
        <p:nvSpPr>
          <p:cNvPr id="37" name="TextBox 19">
            <a:extLst>
              <a:ext uri="{FF2B5EF4-FFF2-40B4-BE49-F238E27FC236}">
                <a16:creationId xmlns:a16="http://schemas.microsoft.com/office/drawing/2014/main" id="{DC9DD973-688D-8728-62BB-7DE49A1A8483}"/>
              </a:ext>
            </a:extLst>
          </p:cNvPr>
          <p:cNvSpPr txBox="1"/>
          <p:nvPr/>
        </p:nvSpPr>
        <p:spPr>
          <a:xfrm>
            <a:off x="2461260" y="4334256"/>
            <a:ext cx="3063240" cy="512064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23313F"/>
                </a:solidFill>
                <a:latin typeface="Aptos"/>
              </a:defRPr>
            </a:pPr>
            <a:r>
              <a:t>Fire or smoke event status*</a:t>
            </a:r>
          </a:p>
        </p:txBody>
      </p:sp>
      <p:sp>
        <p:nvSpPr>
          <p:cNvPr id="38" name="Rounded Rectangle 20">
            <a:extLst>
              <a:ext uri="{FF2B5EF4-FFF2-40B4-BE49-F238E27FC236}">
                <a16:creationId xmlns:a16="http://schemas.microsoft.com/office/drawing/2014/main" id="{7D9BC532-E434-C932-45F7-BBDFE3702CA5}"/>
              </a:ext>
            </a:extLst>
          </p:cNvPr>
          <p:cNvSpPr/>
          <p:nvPr/>
        </p:nvSpPr>
        <p:spPr>
          <a:xfrm>
            <a:off x="6512052" y="2048256"/>
            <a:ext cx="4956048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9" name="TextBox 21">
            <a:extLst>
              <a:ext uri="{FF2B5EF4-FFF2-40B4-BE49-F238E27FC236}">
                <a16:creationId xmlns:a16="http://schemas.microsoft.com/office/drawing/2014/main" id="{6A23A157-8DB4-AEC6-DB80-BBAB0A949976}"/>
              </a:ext>
            </a:extLst>
          </p:cNvPr>
          <p:cNvSpPr txBox="1"/>
          <p:nvPr/>
        </p:nvSpPr>
        <p:spPr>
          <a:xfrm>
            <a:off x="6667500" y="2084832"/>
            <a:ext cx="1554480" cy="512064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25932"/>
                </a:solidFill>
                <a:latin typeface="Aptos"/>
              </a:defRPr>
            </a:pPr>
            <a:r>
              <a:t>Battery status</a:t>
            </a:r>
          </a:p>
        </p:txBody>
      </p:sp>
      <p:sp>
        <p:nvSpPr>
          <p:cNvPr id="40" name="TextBox 22">
            <a:extLst>
              <a:ext uri="{FF2B5EF4-FFF2-40B4-BE49-F238E27FC236}">
                <a16:creationId xmlns:a16="http://schemas.microsoft.com/office/drawing/2014/main" id="{2609B147-5EB1-FC38-A92C-73317A9739E3}"/>
              </a:ext>
            </a:extLst>
          </p:cNvPr>
          <p:cNvSpPr txBox="1"/>
          <p:nvPr/>
        </p:nvSpPr>
        <p:spPr>
          <a:xfrm>
            <a:off x="8221979" y="2084832"/>
            <a:ext cx="3063240" cy="512064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50" b="0">
                <a:solidFill>
                  <a:srgbClr val="23313F"/>
                </a:solidFill>
                <a:latin typeface="Aptos"/>
              </a:defRPr>
            </a:pPr>
            <a:r>
              <a:t>Normal / abnormal indication</a:t>
            </a:r>
          </a:p>
        </p:txBody>
      </p:sp>
      <p:sp>
        <p:nvSpPr>
          <p:cNvPr id="41" name="Rounded Rectangle 23">
            <a:extLst>
              <a:ext uri="{FF2B5EF4-FFF2-40B4-BE49-F238E27FC236}">
                <a16:creationId xmlns:a16="http://schemas.microsoft.com/office/drawing/2014/main" id="{83065597-70DF-D96E-A43E-D29568B1B748}"/>
              </a:ext>
            </a:extLst>
          </p:cNvPr>
          <p:cNvSpPr/>
          <p:nvPr/>
        </p:nvSpPr>
        <p:spPr>
          <a:xfrm>
            <a:off x="6512052" y="2798064"/>
            <a:ext cx="4956048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276D965A-F9AC-C845-B741-C90E11CF7F0D}"/>
              </a:ext>
            </a:extLst>
          </p:cNvPr>
          <p:cNvSpPr txBox="1"/>
          <p:nvPr/>
        </p:nvSpPr>
        <p:spPr>
          <a:xfrm>
            <a:off x="6667500" y="2834640"/>
            <a:ext cx="1554480" cy="512064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25932"/>
                </a:solidFill>
                <a:latin typeface="Aptos"/>
              </a:defRPr>
            </a:pPr>
            <a:r>
              <a:t>Fault detection</a:t>
            </a:r>
          </a:p>
        </p:txBody>
      </p:sp>
      <p:sp>
        <p:nvSpPr>
          <p:cNvPr id="43" name="TextBox 25">
            <a:extLst>
              <a:ext uri="{FF2B5EF4-FFF2-40B4-BE49-F238E27FC236}">
                <a16:creationId xmlns:a16="http://schemas.microsoft.com/office/drawing/2014/main" id="{132D85A7-C040-4F1D-C593-B8D29386A5F2}"/>
              </a:ext>
            </a:extLst>
          </p:cNvPr>
          <p:cNvSpPr txBox="1"/>
          <p:nvPr/>
        </p:nvSpPr>
        <p:spPr>
          <a:xfrm>
            <a:off x="8221979" y="2834640"/>
            <a:ext cx="3063240" cy="512064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50" b="0">
                <a:solidFill>
                  <a:srgbClr val="23313F"/>
                </a:solidFill>
                <a:latin typeface="Aptos"/>
              </a:defRPr>
            </a:pPr>
            <a:r>
              <a:t>Over-voltage, over-current or high temperature</a:t>
            </a:r>
          </a:p>
        </p:txBody>
      </p:sp>
      <p:sp>
        <p:nvSpPr>
          <p:cNvPr id="44" name="Rounded Rectangle 26">
            <a:extLst>
              <a:ext uri="{FF2B5EF4-FFF2-40B4-BE49-F238E27FC236}">
                <a16:creationId xmlns:a16="http://schemas.microsoft.com/office/drawing/2014/main" id="{4941D57A-591E-E74E-8989-885DA2294DB1}"/>
              </a:ext>
            </a:extLst>
          </p:cNvPr>
          <p:cNvSpPr/>
          <p:nvPr/>
        </p:nvSpPr>
        <p:spPr>
          <a:xfrm>
            <a:off x="6512052" y="3547872"/>
            <a:ext cx="4956048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5" name="TextBox 27">
            <a:extLst>
              <a:ext uri="{FF2B5EF4-FFF2-40B4-BE49-F238E27FC236}">
                <a16:creationId xmlns:a16="http://schemas.microsoft.com/office/drawing/2014/main" id="{E0647884-DD72-4E6F-FF03-7B9207AACD0F}"/>
              </a:ext>
            </a:extLst>
          </p:cNvPr>
          <p:cNvSpPr txBox="1"/>
          <p:nvPr/>
        </p:nvSpPr>
        <p:spPr>
          <a:xfrm>
            <a:off x="6667500" y="3584448"/>
            <a:ext cx="1554480" cy="512064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25932"/>
                </a:solidFill>
                <a:latin typeface="Aptos"/>
              </a:defRPr>
            </a:pPr>
            <a:r>
              <a:t>Local display</a:t>
            </a:r>
          </a:p>
        </p:txBody>
      </p:sp>
      <p:sp>
        <p:nvSpPr>
          <p:cNvPr id="46" name="TextBox 28">
            <a:extLst>
              <a:ext uri="{FF2B5EF4-FFF2-40B4-BE49-F238E27FC236}">
                <a16:creationId xmlns:a16="http://schemas.microsoft.com/office/drawing/2014/main" id="{DC746A5C-ED2B-438D-4C6D-EE2AD1C8DA97}"/>
              </a:ext>
            </a:extLst>
          </p:cNvPr>
          <p:cNvSpPr txBox="1"/>
          <p:nvPr/>
        </p:nvSpPr>
        <p:spPr>
          <a:xfrm>
            <a:off x="8221979" y="3584448"/>
            <a:ext cx="3063240" cy="512064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50" b="0">
                <a:solidFill>
                  <a:srgbClr val="23313F"/>
                </a:solidFill>
                <a:latin typeface="Aptos"/>
              </a:defRPr>
            </a:pPr>
            <a:r>
              <a:t>LCD shows measured values and fault status</a:t>
            </a:r>
          </a:p>
        </p:txBody>
      </p:sp>
      <p:sp>
        <p:nvSpPr>
          <p:cNvPr id="47" name="Rounded Rectangle 29">
            <a:extLst>
              <a:ext uri="{FF2B5EF4-FFF2-40B4-BE49-F238E27FC236}">
                <a16:creationId xmlns:a16="http://schemas.microsoft.com/office/drawing/2014/main" id="{C9107265-BC8D-83E3-B5F1-42D932E9A2DC}"/>
              </a:ext>
            </a:extLst>
          </p:cNvPr>
          <p:cNvSpPr/>
          <p:nvPr/>
        </p:nvSpPr>
        <p:spPr>
          <a:xfrm>
            <a:off x="6512052" y="4297680"/>
            <a:ext cx="4956048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E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8" name="TextBox 30">
            <a:extLst>
              <a:ext uri="{FF2B5EF4-FFF2-40B4-BE49-F238E27FC236}">
                <a16:creationId xmlns:a16="http://schemas.microsoft.com/office/drawing/2014/main" id="{D3D470F6-6403-1527-9144-53D271552FB1}"/>
              </a:ext>
            </a:extLst>
          </p:cNvPr>
          <p:cNvSpPr txBox="1"/>
          <p:nvPr/>
        </p:nvSpPr>
        <p:spPr>
          <a:xfrm>
            <a:off x="6667500" y="4334256"/>
            <a:ext cx="1554480" cy="512064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1">
                <a:solidFill>
                  <a:srgbClr val="125932"/>
                </a:solidFill>
                <a:latin typeface="Aptos"/>
              </a:defRPr>
            </a:pPr>
            <a:r>
              <a:t>Notifications</a:t>
            </a:r>
          </a:p>
        </p:txBody>
      </p:sp>
      <p:sp>
        <p:nvSpPr>
          <p:cNvPr id="49" name="TextBox 31">
            <a:extLst>
              <a:ext uri="{FF2B5EF4-FFF2-40B4-BE49-F238E27FC236}">
                <a16:creationId xmlns:a16="http://schemas.microsoft.com/office/drawing/2014/main" id="{1C992451-B224-327D-7A80-080CCEC5E093}"/>
              </a:ext>
            </a:extLst>
          </p:cNvPr>
          <p:cNvSpPr txBox="1"/>
          <p:nvPr/>
        </p:nvSpPr>
        <p:spPr>
          <a:xfrm>
            <a:off x="8221979" y="4334256"/>
            <a:ext cx="3063240" cy="512064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50" b="0">
                <a:solidFill>
                  <a:srgbClr val="23313F"/>
                </a:solidFill>
                <a:latin typeface="Aptos"/>
              </a:defRPr>
            </a:pPr>
            <a:r>
              <a:t>GSM SMS and ThingSpeak monitoring</a:t>
            </a:r>
          </a:p>
        </p:txBody>
      </p:sp>
      <p:sp>
        <p:nvSpPr>
          <p:cNvPr id="50" name="Rounded Rectangle 32">
            <a:extLst>
              <a:ext uri="{FF2B5EF4-FFF2-40B4-BE49-F238E27FC236}">
                <a16:creationId xmlns:a16="http://schemas.microsoft.com/office/drawing/2014/main" id="{B55A26B4-9A1A-0018-D3B9-8FD3CEC6CEA8}"/>
              </a:ext>
            </a:extLst>
          </p:cNvPr>
          <p:cNvSpPr/>
          <p:nvPr/>
        </p:nvSpPr>
        <p:spPr>
          <a:xfrm>
            <a:off x="723900" y="5751576"/>
            <a:ext cx="10835640" cy="603504"/>
          </a:xfrm>
          <a:prstGeom prst="roundRect">
            <a:avLst/>
          </a:prstGeom>
          <a:solidFill>
            <a:srgbClr val="FFF7DF"/>
          </a:solidFill>
          <a:ln w="13970">
            <a:solidFill>
              <a:srgbClr val="E4A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1" name="TextBox 33">
            <a:extLst>
              <a:ext uri="{FF2B5EF4-FFF2-40B4-BE49-F238E27FC236}">
                <a16:creationId xmlns:a16="http://schemas.microsoft.com/office/drawing/2014/main" id="{2B3E97FA-83F2-F572-526B-6B2E14E5209C}"/>
              </a:ext>
            </a:extLst>
          </p:cNvPr>
          <p:cNvSpPr txBox="1"/>
          <p:nvPr/>
        </p:nvSpPr>
        <p:spPr>
          <a:xfrm>
            <a:off x="906780" y="5815584"/>
            <a:ext cx="10469880" cy="45720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50" b="1">
                <a:solidFill>
                  <a:srgbClr val="7C5400"/>
                </a:solidFill>
                <a:latin typeface="Aptos"/>
              </a:defRPr>
            </a:pPr>
            <a:r>
              <a:t>Safety response: cooling fan activates at high temperature • Buzzer is planned/not yet working • Battery cut-off relay not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2AB649-BCE8-57BE-35C2-7C6C455E7452}"/>
              </a:ext>
            </a:extLst>
          </p:cNvPr>
          <p:cNvSpPr txBox="1"/>
          <p:nvPr/>
        </p:nvSpPr>
        <p:spPr>
          <a:xfrm>
            <a:off x="438912" y="164592"/>
            <a:ext cx="8961120" cy="512064"/>
          </a:xfrm>
          <a:prstGeom prst="rect">
            <a:avLst/>
          </a:prstGeom>
          <a:noFill/>
        </p:spPr>
        <p:txBody>
          <a:bodyPr wrap="none" lIns="0" tIns="22860" rIns="0" bIns="22860" anchor="ctr">
            <a:spAutoFit/>
          </a:bodyPr>
          <a:lstStyle/>
          <a:p>
            <a:pPr algn="l">
              <a:defRPr sz="2700" b="1">
                <a:solidFill>
                  <a:srgbClr val="122D4E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593359-81CC-6AAD-5A32-49F3E4EA4CA2}"/>
              </a:ext>
            </a:extLst>
          </p:cNvPr>
          <p:cNvSpPr/>
          <p:nvPr/>
        </p:nvSpPr>
        <p:spPr>
          <a:xfrm>
            <a:off x="457200" y="722376"/>
            <a:ext cx="1417320" cy="41148"/>
          </a:xfrm>
          <a:prstGeom prst="rect">
            <a:avLst/>
          </a:prstGeom>
          <a:solidFill>
            <a:srgbClr val="C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BC6749-BE1F-048A-CFE7-1B45F29C5DB2}"/>
              </a:ext>
            </a:extLst>
          </p:cNvPr>
          <p:cNvSpPr txBox="1"/>
          <p:nvPr/>
        </p:nvSpPr>
        <p:spPr>
          <a:xfrm>
            <a:off x="457200" y="822960"/>
            <a:ext cx="11155680" cy="274320"/>
          </a:xfrm>
          <a:prstGeom prst="rect">
            <a:avLst/>
          </a:prstGeom>
          <a:noFill/>
        </p:spPr>
        <p:txBody>
          <a:bodyPr wrap="none" lIns="0" tIns="22860" rIns="0" bIns="22860" anchor="ctr">
            <a:spAutoFit/>
          </a:bodyPr>
          <a:lstStyle/>
          <a:p>
            <a:pPr algn="l">
              <a:defRPr sz="1200" b="0">
                <a:solidFill>
                  <a:srgbClr val="5C6976"/>
                </a:solidFill>
                <a:latin typeface="Aptos"/>
              </a:defRPr>
            </a:pPr>
            <a:r>
              <a:t>A low-cost embedded approach for early EV battery fault awareness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F6047F8D-8A45-31DF-D470-B40E0500170E}"/>
              </a:ext>
            </a:extLst>
          </p:cNvPr>
          <p:cNvSpPr/>
          <p:nvPr/>
        </p:nvSpPr>
        <p:spPr>
          <a:xfrm>
            <a:off x="502920" y="1417320"/>
            <a:ext cx="5440680" cy="4434840"/>
          </a:xfrm>
          <a:prstGeom prst="roundRect">
            <a:avLst/>
          </a:prstGeom>
          <a:solidFill>
            <a:srgbClr val="E5F1FF"/>
          </a:solidFill>
          <a:ln w="17780">
            <a:solidFill>
              <a:srgbClr val="53A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1183EE-D989-4E77-7C8E-DC375C4B4774}"/>
              </a:ext>
            </a:extLst>
          </p:cNvPr>
          <p:cNvSpPr txBox="1"/>
          <p:nvPr/>
        </p:nvSpPr>
        <p:spPr>
          <a:xfrm>
            <a:off x="731520" y="1572768"/>
            <a:ext cx="4983480" cy="38404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ctr">
              <a:defRPr sz="1800" b="1">
                <a:solidFill>
                  <a:srgbClr val="122D4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69C23605-1F76-EBEB-668E-391DA77EC6F7}"/>
              </a:ext>
            </a:extLst>
          </p:cNvPr>
          <p:cNvSpPr/>
          <p:nvPr/>
        </p:nvSpPr>
        <p:spPr>
          <a:xfrm>
            <a:off x="777240" y="2084831"/>
            <a:ext cx="489204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1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30B585-71D9-D5B3-4F2F-85B355525959}"/>
              </a:ext>
            </a:extLst>
          </p:cNvPr>
          <p:cNvSpPr txBox="1"/>
          <p:nvPr/>
        </p:nvSpPr>
        <p:spPr>
          <a:xfrm>
            <a:off x="932688" y="2121408"/>
            <a:ext cx="4572000" cy="54864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150" b="0">
                <a:solidFill>
                  <a:srgbClr val="23313F"/>
                </a:solidFill>
                <a:latin typeface="Aptos"/>
              </a:defRPr>
            </a:pPr>
            <a:r>
              <a:t>• Monitors key battery parameters: voltage, current and temperature.</a:t>
            </a: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AD9D6832-9E57-BF1B-D316-82C48C9FEA8D}"/>
              </a:ext>
            </a:extLst>
          </p:cNvPr>
          <p:cNvSpPr/>
          <p:nvPr/>
        </p:nvSpPr>
        <p:spPr>
          <a:xfrm>
            <a:off x="777240" y="2798063"/>
            <a:ext cx="489204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1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130F27-05F0-A8B5-BB33-3F979610B171}"/>
              </a:ext>
            </a:extLst>
          </p:cNvPr>
          <p:cNvSpPr txBox="1"/>
          <p:nvPr/>
        </p:nvSpPr>
        <p:spPr>
          <a:xfrm>
            <a:off x="932688" y="2834639"/>
            <a:ext cx="4572000" cy="54864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150" b="0">
                <a:solidFill>
                  <a:srgbClr val="23313F"/>
                </a:solidFill>
                <a:latin typeface="Aptos"/>
              </a:defRPr>
            </a:pPr>
            <a:r>
              <a:t>• Uses ESP32 for local data acquisition and fault-status processing.</a:t>
            </a:r>
          </a:p>
        </p:txBody>
      </p:sp>
      <p:sp>
        <p:nvSpPr>
          <p:cNvPr id="21" name="Rounded Rectangle 10">
            <a:extLst>
              <a:ext uri="{FF2B5EF4-FFF2-40B4-BE49-F238E27FC236}">
                <a16:creationId xmlns:a16="http://schemas.microsoft.com/office/drawing/2014/main" id="{5B70FCCE-5319-7409-B78D-DBEA7B396D24}"/>
              </a:ext>
            </a:extLst>
          </p:cNvPr>
          <p:cNvSpPr/>
          <p:nvPr/>
        </p:nvSpPr>
        <p:spPr>
          <a:xfrm>
            <a:off x="777240" y="3511296"/>
            <a:ext cx="489204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1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89C446-33F6-4B07-76F6-1732C1DF3FF7}"/>
              </a:ext>
            </a:extLst>
          </p:cNvPr>
          <p:cNvSpPr txBox="1"/>
          <p:nvPr/>
        </p:nvSpPr>
        <p:spPr>
          <a:xfrm>
            <a:off x="932688" y="3622137"/>
            <a:ext cx="4833118" cy="40011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150" b="0">
                <a:solidFill>
                  <a:srgbClr val="23313F"/>
                </a:solidFill>
                <a:latin typeface="Aptos"/>
              </a:defRPr>
            </a:pPr>
            <a:r>
              <a:rPr dirty="0"/>
              <a:t>• Supports early identification of abnormal conditions such as over-voltage,</a:t>
            </a:r>
            <a:endParaRPr lang="en-IN" dirty="0"/>
          </a:p>
          <a:p>
            <a:pPr algn="l">
              <a:defRPr sz="1150" b="0">
                <a:solidFill>
                  <a:srgbClr val="23313F"/>
                </a:solidFill>
                <a:latin typeface="Aptos"/>
              </a:defRPr>
            </a:pPr>
            <a:r>
              <a:rPr dirty="0"/>
              <a:t> </a:t>
            </a:r>
            <a:r>
              <a:rPr lang="en-IN" dirty="0"/>
              <a:t>  </a:t>
            </a:r>
            <a:r>
              <a:rPr dirty="0"/>
              <a:t>over-current and excessive temperature.</a:t>
            </a:r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75263019-34E3-4AE7-BAF3-9C963FFF36F0}"/>
              </a:ext>
            </a:extLst>
          </p:cNvPr>
          <p:cNvSpPr/>
          <p:nvPr/>
        </p:nvSpPr>
        <p:spPr>
          <a:xfrm>
            <a:off x="777240" y="4224528"/>
            <a:ext cx="489204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1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9C4CBC-2700-8464-0518-520CCEB922B3}"/>
              </a:ext>
            </a:extLst>
          </p:cNvPr>
          <p:cNvSpPr txBox="1"/>
          <p:nvPr/>
        </p:nvSpPr>
        <p:spPr>
          <a:xfrm>
            <a:off x="932688" y="4261104"/>
            <a:ext cx="4572000" cy="54864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150" b="0">
                <a:solidFill>
                  <a:srgbClr val="23313F"/>
                </a:solidFill>
                <a:latin typeface="Aptos"/>
              </a:defRPr>
            </a:pPr>
            <a:r>
              <a:rPr dirty="0"/>
              <a:t>• Provides LCD status, GSM SMS alerts and </a:t>
            </a:r>
            <a:r>
              <a:rPr dirty="0" err="1"/>
              <a:t>ThingSpeak</a:t>
            </a:r>
            <a:r>
              <a:rPr dirty="0"/>
              <a:t> remote monitoring.</a:t>
            </a:r>
          </a:p>
        </p:txBody>
      </p:sp>
      <p:sp>
        <p:nvSpPr>
          <p:cNvPr id="29" name="Rounded Rectangle 14">
            <a:extLst>
              <a:ext uri="{FF2B5EF4-FFF2-40B4-BE49-F238E27FC236}">
                <a16:creationId xmlns:a16="http://schemas.microsoft.com/office/drawing/2014/main" id="{96351E49-D952-DF5F-D6F9-79866ACB56E3}"/>
              </a:ext>
            </a:extLst>
          </p:cNvPr>
          <p:cNvSpPr/>
          <p:nvPr/>
        </p:nvSpPr>
        <p:spPr>
          <a:xfrm>
            <a:off x="777240" y="4937760"/>
            <a:ext cx="489204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1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296F7B-F923-99D1-627B-612C532534E8}"/>
              </a:ext>
            </a:extLst>
          </p:cNvPr>
          <p:cNvSpPr txBox="1"/>
          <p:nvPr/>
        </p:nvSpPr>
        <p:spPr>
          <a:xfrm>
            <a:off x="932688" y="4974336"/>
            <a:ext cx="4572000" cy="54864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150" b="0">
                <a:solidFill>
                  <a:srgbClr val="23313F"/>
                </a:solidFill>
                <a:latin typeface="Aptos"/>
              </a:defRPr>
            </a:pPr>
            <a:r>
              <a:t>• Cooling fan activates when high temperature is detected.</a:t>
            </a:r>
          </a:p>
        </p:txBody>
      </p:sp>
      <p:sp>
        <p:nvSpPr>
          <p:cNvPr id="33" name="Rounded Rectangle 16">
            <a:extLst>
              <a:ext uri="{FF2B5EF4-FFF2-40B4-BE49-F238E27FC236}">
                <a16:creationId xmlns:a16="http://schemas.microsoft.com/office/drawing/2014/main" id="{6FAAFDAD-DDD3-1432-6F34-22A6C70FEF2C}"/>
              </a:ext>
            </a:extLst>
          </p:cNvPr>
          <p:cNvSpPr/>
          <p:nvPr/>
        </p:nvSpPr>
        <p:spPr>
          <a:xfrm>
            <a:off x="6236208" y="1417320"/>
            <a:ext cx="5440680" cy="4434840"/>
          </a:xfrm>
          <a:prstGeom prst="roundRect">
            <a:avLst/>
          </a:prstGeom>
          <a:solidFill>
            <a:srgbClr val="F4EDFF"/>
          </a:solidFill>
          <a:ln w="17780">
            <a:solidFill>
              <a:srgbClr val="9B7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755429-F103-9BBD-B081-F72463FE9E1A}"/>
              </a:ext>
            </a:extLst>
          </p:cNvPr>
          <p:cNvSpPr txBox="1"/>
          <p:nvPr/>
        </p:nvSpPr>
        <p:spPr>
          <a:xfrm>
            <a:off x="6446520" y="1572768"/>
            <a:ext cx="5029200" cy="384048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ctr">
              <a:defRPr sz="1800" b="1">
                <a:solidFill>
                  <a:srgbClr val="592D8C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37" name="Rounded Rectangle 18">
            <a:extLst>
              <a:ext uri="{FF2B5EF4-FFF2-40B4-BE49-F238E27FC236}">
                <a16:creationId xmlns:a16="http://schemas.microsoft.com/office/drawing/2014/main" id="{165ECA99-8538-323A-B377-BB30E3F2A2D2}"/>
              </a:ext>
            </a:extLst>
          </p:cNvPr>
          <p:cNvSpPr/>
          <p:nvPr/>
        </p:nvSpPr>
        <p:spPr>
          <a:xfrm>
            <a:off x="6510528" y="2084831"/>
            <a:ext cx="489204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F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B9F338-5F3B-063E-8E06-9313D0943D75}"/>
              </a:ext>
            </a:extLst>
          </p:cNvPr>
          <p:cNvSpPr txBox="1"/>
          <p:nvPr/>
        </p:nvSpPr>
        <p:spPr>
          <a:xfrm>
            <a:off x="6665976" y="2121408"/>
            <a:ext cx="4572000" cy="54864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120" b="0">
                <a:solidFill>
                  <a:srgbClr val="23313F"/>
                </a:solidFill>
                <a:latin typeface="Aptos"/>
              </a:defRPr>
            </a:pPr>
            <a:r>
              <a:t>• Validate TinyML model, dataset, fault classes and accuracy through testing.</a:t>
            </a:r>
          </a:p>
        </p:txBody>
      </p:sp>
      <p:sp>
        <p:nvSpPr>
          <p:cNvPr id="41" name="Rounded Rectangle 20">
            <a:extLst>
              <a:ext uri="{FF2B5EF4-FFF2-40B4-BE49-F238E27FC236}">
                <a16:creationId xmlns:a16="http://schemas.microsoft.com/office/drawing/2014/main" id="{C0536D7D-2980-EF3D-4D91-A55A4EDF9DB2}"/>
              </a:ext>
            </a:extLst>
          </p:cNvPr>
          <p:cNvSpPr/>
          <p:nvPr/>
        </p:nvSpPr>
        <p:spPr>
          <a:xfrm>
            <a:off x="6510528" y="2798063"/>
            <a:ext cx="489204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F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EE31A6-6B8D-6124-9243-A98EA245FB53}"/>
              </a:ext>
            </a:extLst>
          </p:cNvPr>
          <p:cNvSpPr txBox="1"/>
          <p:nvPr/>
        </p:nvSpPr>
        <p:spPr>
          <a:xfrm>
            <a:off x="6665976" y="2834639"/>
            <a:ext cx="4572000" cy="54864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120" b="0">
                <a:solidFill>
                  <a:srgbClr val="23313F"/>
                </a:solidFill>
                <a:latin typeface="Aptos"/>
              </a:defRPr>
            </a:pPr>
            <a:r>
              <a:t>• Add more fault scenarios and improve detection reliability.</a:t>
            </a:r>
          </a:p>
        </p:txBody>
      </p:sp>
      <p:sp>
        <p:nvSpPr>
          <p:cNvPr id="45" name="Rounded Rectangle 22">
            <a:extLst>
              <a:ext uri="{FF2B5EF4-FFF2-40B4-BE49-F238E27FC236}">
                <a16:creationId xmlns:a16="http://schemas.microsoft.com/office/drawing/2014/main" id="{04BB102F-B4CB-6593-E434-4975E6775AA0}"/>
              </a:ext>
            </a:extLst>
          </p:cNvPr>
          <p:cNvSpPr/>
          <p:nvPr/>
        </p:nvSpPr>
        <p:spPr>
          <a:xfrm>
            <a:off x="6510528" y="3511296"/>
            <a:ext cx="489204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F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929FFA-52EC-DCF5-D100-A89BA3395C1C}"/>
              </a:ext>
            </a:extLst>
          </p:cNvPr>
          <p:cNvSpPr txBox="1"/>
          <p:nvPr/>
        </p:nvSpPr>
        <p:spPr>
          <a:xfrm>
            <a:off x="6665976" y="3547872"/>
            <a:ext cx="4572000" cy="548640"/>
          </a:xfrm>
          <a:prstGeom prst="rect">
            <a:avLst/>
          </a:prstGeom>
          <a:noFill/>
        </p:spPr>
        <p:txBody>
          <a:bodyPr wrap="none" lIns="18288" tIns="22860" rIns="18288" bIns="22860" anchor="ctr">
            <a:spAutoFit/>
          </a:bodyPr>
          <a:lstStyle/>
          <a:p>
            <a:pPr algn="l">
              <a:defRPr sz="1120" b="0">
                <a:solidFill>
                  <a:srgbClr val="23313F"/>
                </a:solidFill>
                <a:latin typeface="Aptos"/>
              </a:defRPr>
            </a:pPr>
            <a:r>
              <a:t>• Integrate and validate a QNX real-time safety layer on a supported target.</a:t>
            </a:r>
          </a:p>
        </p:txBody>
      </p:sp>
      <p:sp>
        <p:nvSpPr>
          <p:cNvPr id="49" name="Rounded Rectangle 24">
            <a:extLst>
              <a:ext uri="{FF2B5EF4-FFF2-40B4-BE49-F238E27FC236}">
                <a16:creationId xmlns:a16="http://schemas.microsoft.com/office/drawing/2014/main" id="{2B83C83D-CA78-8BFC-D7B9-8AB82D0411F1}"/>
              </a:ext>
            </a:extLst>
          </p:cNvPr>
          <p:cNvSpPr/>
          <p:nvPr/>
        </p:nvSpPr>
        <p:spPr>
          <a:xfrm>
            <a:off x="6510528" y="4224528"/>
            <a:ext cx="489204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F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CCBB75-3FD9-03D1-1651-9F3EAF801DED}"/>
              </a:ext>
            </a:extLst>
          </p:cNvPr>
          <p:cNvSpPr txBox="1"/>
          <p:nvPr/>
        </p:nvSpPr>
        <p:spPr>
          <a:xfrm>
            <a:off x="6665976" y="4307982"/>
            <a:ext cx="4572000" cy="390876"/>
          </a:xfrm>
          <a:prstGeom prst="rect">
            <a:avLst/>
          </a:prstGeom>
          <a:noFill/>
        </p:spPr>
        <p:txBody>
          <a:bodyPr wrap="square" lIns="18288" tIns="22860" rIns="18288" bIns="22860" anchor="ctr">
            <a:spAutoFit/>
          </a:bodyPr>
          <a:lstStyle/>
          <a:p>
            <a:pPr algn="l">
              <a:defRPr sz="1120" b="0">
                <a:solidFill>
                  <a:srgbClr val="23313F"/>
                </a:solidFill>
                <a:latin typeface="Aptos"/>
              </a:defRPr>
            </a:pPr>
            <a:r>
              <a:rPr dirty="0"/>
              <a:t>• Evaluate response latency, CPU/resource use and communication</a:t>
            </a:r>
            <a:endParaRPr lang="en-IN" dirty="0"/>
          </a:p>
          <a:p>
            <a:pPr algn="l">
              <a:defRPr sz="1120" b="0">
                <a:solidFill>
                  <a:srgbClr val="23313F"/>
                </a:solidFill>
                <a:latin typeface="Aptos"/>
              </a:defRPr>
            </a:pPr>
            <a:r>
              <a:rPr dirty="0"/>
              <a:t> </a:t>
            </a:r>
            <a:r>
              <a:rPr lang="en-IN" dirty="0"/>
              <a:t>  </a:t>
            </a:r>
            <a:r>
              <a:rPr dirty="0"/>
              <a:t>reliability.</a:t>
            </a:r>
          </a:p>
        </p:txBody>
      </p:sp>
      <p:sp>
        <p:nvSpPr>
          <p:cNvPr id="53" name="Rounded Rectangle 26">
            <a:extLst>
              <a:ext uri="{FF2B5EF4-FFF2-40B4-BE49-F238E27FC236}">
                <a16:creationId xmlns:a16="http://schemas.microsoft.com/office/drawing/2014/main" id="{1E0D093A-3EEE-80F3-0188-8E55EDB295E1}"/>
              </a:ext>
            </a:extLst>
          </p:cNvPr>
          <p:cNvSpPr/>
          <p:nvPr/>
        </p:nvSpPr>
        <p:spPr>
          <a:xfrm>
            <a:off x="6510528" y="4937760"/>
            <a:ext cx="489204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FB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2F4EBA-9BC3-DF3C-143D-5C8A671FDE45}"/>
              </a:ext>
            </a:extLst>
          </p:cNvPr>
          <p:cNvSpPr txBox="1"/>
          <p:nvPr/>
        </p:nvSpPr>
        <p:spPr>
          <a:xfrm>
            <a:off x="6665976" y="5053218"/>
            <a:ext cx="4736592" cy="390876"/>
          </a:xfrm>
          <a:prstGeom prst="rect">
            <a:avLst/>
          </a:prstGeom>
          <a:noFill/>
        </p:spPr>
        <p:txBody>
          <a:bodyPr wrap="square" lIns="18288" tIns="22860" rIns="18288" bIns="22860" anchor="ctr">
            <a:spAutoFit/>
          </a:bodyPr>
          <a:lstStyle/>
          <a:p>
            <a:pPr algn="just">
              <a:defRPr sz="1120" b="0">
                <a:solidFill>
                  <a:srgbClr val="23313F"/>
                </a:solidFill>
                <a:latin typeface="Aptos"/>
              </a:defRPr>
            </a:pPr>
            <a:r>
              <a:rPr dirty="0"/>
              <a:t>• Test battery cut-off protection and complete buzzer operation before </a:t>
            </a:r>
            <a:endParaRPr lang="en-IN" dirty="0"/>
          </a:p>
          <a:p>
            <a:pPr algn="just">
              <a:defRPr sz="1120" b="0">
                <a:solidFill>
                  <a:srgbClr val="23313F"/>
                </a:solidFill>
                <a:latin typeface="Aptos"/>
              </a:defRPr>
            </a:pPr>
            <a:r>
              <a:rPr lang="en-IN" dirty="0"/>
              <a:t>   </a:t>
            </a:r>
            <a:r>
              <a:rPr dirty="0"/>
              <a:t>claiming them as working features.</a:t>
            </a:r>
          </a:p>
        </p:txBody>
      </p:sp>
    </p:spTree>
    <p:extLst>
      <p:ext uri="{BB962C8B-B14F-4D97-AF65-F5344CB8AC3E}">
        <p14:creationId xmlns:p14="http://schemas.microsoft.com/office/powerpoint/2010/main" val="3044473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10972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5344"/>
          </a:solidFill>
          <a:ln w="12700">
            <a:solidFill>
              <a:srgbClr val="E05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4000" b="1">
                <a:solidFill>
                  <a:srgbClr val="1C1F23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0">
                <a:solidFill>
                  <a:srgbClr val="236FA4"/>
                </a:solidFill>
                <a:latin typeface="Aptos"/>
              </a:rP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956</Words>
  <Application>Microsoft Office PowerPoint</Application>
  <PresentationFormat>Widescreen</PresentationFormat>
  <Paragraphs>183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(Body)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syeds</dc:creator>
  <cp:keywords/>
  <dc:description>generated using python-pptx</dc:description>
  <cp:lastModifiedBy>syedsharikh9@gmail.com</cp:lastModifiedBy>
  <cp:revision>6</cp:revision>
  <dcterms:created xsi:type="dcterms:W3CDTF">2013-01-27T09:14:16Z</dcterms:created>
  <dcterms:modified xsi:type="dcterms:W3CDTF">2026-10-09T13:14:57Z</dcterms:modified>
  <cp:category/>
</cp:coreProperties>
</file>